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notesMasterIdLst>
    <p:notesMasterId r:id="rId16"/>
  </p:notesMasterIdLst>
  <p:sldIdLst>
    <p:sldId id="256" r:id="rId2"/>
    <p:sldId id="257" r:id="rId3"/>
    <p:sldId id="259" r:id="rId4"/>
    <p:sldId id="258" r:id="rId5"/>
    <p:sldId id="276" r:id="rId6"/>
    <p:sldId id="278" r:id="rId7"/>
    <p:sldId id="279" r:id="rId8"/>
    <p:sldId id="280" r:id="rId9"/>
    <p:sldId id="281" r:id="rId10"/>
    <p:sldId id="282" r:id="rId11"/>
    <p:sldId id="283" r:id="rId12"/>
    <p:sldId id="284" r:id="rId13"/>
    <p:sldId id="285" r:id="rId14"/>
    <p:sldId id="28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89E9D1-A4E1-2C47-9167-D64A9D3F0D38}" v="45" dt="2025-11-16T03:17:44.5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392"/>
    <p:restoredTop sz="94726"/>
  </p:normalViewPr>
  <p:slideViewPr>
    <p:cSldViewPr snapToGrid="0">
      <p:cViewPr>
        <p:scale>
          <a:sx n="137" d="100"/>
          <a:sy n="137" d="100"/>
        </p:scale>
        <p:origin x="-2280"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087A49-1917-43EF-B08E-D6E5594DD163}" type="doc">
      <dgm:prSet loTypeId="urn:microsoft.com/office/officeart/2005/8/layout/vProcess5" loCatId="process" qsTypeId="urn:microsoft.com/office/officeart/2005/8/quickstyle/simple1" qsCatId="simple" csTypeId="urn:microsoft.com/office/officeart/2005/8/colors/accent3_5" csCatId="accent3" phldr="1"/>
      <dgm:spPr/>
      <dgm:t>
        <a:bodyPr/>
        <a:lstStyle/>
        <a:p>
          <a:endParaRPr lang="en-US"/>
        </a:p>
      </dgm:t>
    </dgm:pt>
    <dgm:pt modelId="{28CC6B63-939B-43DB-95B8-6113317E0FCA}">
      <dgm:prSet/>
      <dgm:spPr/>
      <dgm:t>
        <a:bodyPr/>
        <a:lstStyle/>
        <a:p>
          <a:r>
            <a:rPr lang="en-US"/>
            <a:t>Schematic</a:t>
          </a:r>
        </a:p>
      </dgm:t>
    </dgm:pt>
    <dgm:pt modelId="{8B7BD027-6722-415F-B6A3-B28F604EA9A5}" type="parTrans" cxnId="{39DC1A91-E39C-4703-ABE5-E3E7F98D800A}">
      <dgm:prSet/>
      <dgm:spPr/>
      <dgm:t>
        <a:bodyPr/>
        <a:lstStyle/>
        <a:p>
          <a:endParaRPr lang="en-US"/>
        </a:p>
      </dgm:t>
    </dgm:pt>
    <dgm:pt modelId="{4EFC5090-1E51-476E-8F6B-3DD31660A53E}" type="sibTrans" cxnId="{39DC1A91-E39C-4703-ABE5-E3E7F98D800A}">
      <dgm:prSet/>
      <dgm:spPr/>
      <dgm:t>
        <a:bodyPr/>
        <a:lstStyle/>
        <a:p>
          <a:endParaRPr lang="en-US"/>
        </a:p>
      </dgm:t>
    </dgm:pt>
    <dgm:pt modelId="{9E066C0C-A281-4A81-A1DE-0D5FC319B7D9}">
      <dgm:prSet/>
      <dgm:spPr/>
      <dgm:t>
        <a:bodyPr/>
        <a:lstStyle/>
        <a:p>
          <a:r>
            <a:rPr lang="en-US"/>
            <a:t>Footprints</a:t>
          </a:r>
        </a:p>
      </dgm:t>
    </dgm:pt>
    <dgm:pt modelId="{23D7818C-F361-47DC-8957-0E4F4BA0363C}" type="parTrans" cxnId="{84059AD5-0D3D-439B-80A2-F40B818F518F}">
      <dgm:prSet/>
      <dgm:spPr/>
      <dgm:t>
        <a:bodyPr/>
        <a:lstStyle/>
        <a:p>
          <a:endParaRPr lang="en-US"/>
        </a:p>
      </dgm:t>
    </dgm:pt>
    <dgm:pt modelId="{B85F400E-487E-40D3-B1B6-FD9562D54DB0}" type="sibTrans" cxnId="{84059AD5-0D3D-439B-80A2-F40B818F518F}">
      <dgm:prSet/>
      <dgm:spPr/>
      <dgm:t>
        <a:bodyPr/>
        <a:lstStyle/>
        <a:p>
          <a:endParaRPr lang="en-US"/>
        </a:p>
      </dgm:t>
    </dgm:pt>
    <dgm:pt modelId="{560B817A-A9A0-427C-B9A1-E1F1ABCC86B0}">
      <dgm:prSet/>
      <dgm:spPr/>
      <dgm:t>
        <a:bodyPr/>
        <a:lstStyle/>
        <a:p>
          <a:r>
            <a:rPr lang="en-US"/>
            <a:t>PCB Layout</a:t>
          </a:r>
        </a:p>
      </dgm:t>
    </dgm:pt>
    <dgm:pt modelId="{385500F3-756D-4E26-849D-B676E6944EE7}" type="parTrans" cxnId="{DC1265D8-03D3-4E0D-A524-F4283350326D}">
      <dgm:prSet/>
      <dgm:spPr/>
      <dgm:t>
        <a:bodyPr/>
        <a:lstStyle/>
        <a:p>
          <a:endParaRPr lang="en-US"/>
        </a:p>
      </dgm:t>
    </dgm:pt>
    <dgm:pt modelId="{BFB052DF-ABC5-47DB-A9F4-C36BB639E3D1}" type="sibTrans" cxnId="{DC1265D8-03D3-4E0D-A524-F4283350326D}">
      <dgm:prSet/>
      <dgm:spPr/>
      <dgm:t>
        <a:bodyPr/>
        <a:lstStyle/>
        <a:p>
          <a:endParaRPr lang="en-US"/>
        </a:p>
      </dgm:t>
    </dgm:pt>
    <dgm:pt modelId="{0B7BB4A7-E3DB-4FFC-BAA8-919AD60F47D4}">
      <dgm:prSet/>
      <dgm:spPr/>
      <dgm:t>
        <a:bodyPr/>
        <a:lstStyle/>
        <a:p>
          <a:r>
            <a:rPr lang="en-US"/>
            <a:t>PCB Routing</a:t>
          </a:r>
        </a:p>
      </dgm:t>
    </dgm:pt>
    <dgm:pt modelId="{84F89DF6-CC84-49E7-88BA-65F787535AA6}" type="parTrans" cxnId="{DB60B425-D309-4F48-AB31-5D2E5EC909C6}">
      <dgm:prSet/>
      <dgm:spPr/>
      <dgm:t>
        <a:bodyPr/>
        <a:lstStyle/>
        <a:p>
          <a:endParaRPr lang="en-US"/>
        </a:p>
      </dgm:t>
    </dgm:pt>
    <dgm:pt modelId="{255D8FA1-0A06-4221-8E54-223683531495}" type="sibTrans" cxnId="{DB60B425-D309-4F48-AB31-5D2E5EC909C6}">
      <dgm:prSet/>
      <dgm:spPr/>
      <dgm:t>
        <a:bodyPr/>
        <a:lstStyle/>
        <a:p>
          <a:endParaRPr lang="en-US"/>
        </a:p>
      </dgm:t>
    </dgm:pt>
    <dgm:pt modelId="{3DD66B99-789A-4388-8214-38F854B96FFD}">
      <dgm:prSet/>
      <dgm:spPr/>
      <dgm:t>
        <a:bodyPr/>
        <a:lstStyle/>
        <a:p>
          <a:r>
            <a:rPr lang="en-US"/>
            <a:t>Export to Gerber</a:t>
          </a:r>
        </a:p>
      </dgm:t>
    </dgm:pt>
    <dgm:pt modelId="{E44CC021-FC84-40D7-88E3-224F375C89E2}" type="parTrans" cxnId="{5F896F61-65A8-4728-8CD0-3E1182F5D1EC}">
      <dgm:prSet/>
      <dgm:spPr/>
      <dgm:t>
        <a:bodyPr/>
        <a:lstStyle/>
        <a:p>
          <a:endParaRPr lang="en-US"/>
        </a:p>
      </dgm:t>
    </dgm:pt>
    <dgm:pt modelId="{362C7078-E8AD-4790-A192-929C91A78737}" type="sibTrans" cxnId="{5F896F61-65A8-4728-8CD0-3E1182F5D1EC}">
      <dgm:prSet/>
      <dgm:spPr/>
      <dgm:t>
        <a:bodyPr/>
        <a:lstStyle/>
        <a:p>
          <a:endParaRPr lang="en-US"/>
        </a:p>
      </dgm:t>
    </dgm:pt>
    <dgm:pt modelId="{25837FDE-2D8C-6247-ADC7-3E01378F7CFE}" type="pres">
      <dgm:prSet presAssocID="{D5087A49-1917-43EF-B08E-D6E5594DD163}" presName="outerComposite" presStyleCnt="0">
        <dgm:presLayoutVars>
          <dgm:chMax val="5"/>
          <dgm:dir/>
          <dgm:resizeHandles val="exact"/>
        </dgm:presLayoutVars>
      </dgm:prSet>
      <dgm:spPr/>
    </dgm:pt>
    <dgm:pt modelId="{80734C5A-242E-2B47-8D21-6BAC76F568B6}" type="pres">
      <dgm:prSet presAssocID="{D5087A49-1917-43EF-B08E-D6E5594DD163}" presName="dummyMaxCanvas" presStyleCnt="0">
        <dgm:presLayoutVars/>
      </dgm:prSet>
      <dgm:spPr/>
    </dgm:pt>
    <dgm:pt modelId="{8289CF73-CF33-4811-A64D-237AE025A0F1}" type="pres">
      <dgm:prSet presAssocID="{D5087A49-1917-43EF-B08E-D6E5594DD163}" presName="FiveNodes_1" presStyleLbl="node1" presStyleIdx="0" presStyleCnt="5">
        <dgm:presLayoutVars>
          <dgm:bulletEnabled val="1"/>
        </dgm:presLayoutVars>
      </dgm:prSet>
      <dgm:spPr/>
    </dgm:pt>
    <dgm:pt modelId="{01513030-23A3-4295-BBA9-EBFA2B2E3768}" type="pres">
      <dgm:prSet presAssocID="{D5087A49-1917-43EF-B08E-D6E5594DD163}" presName="FiveNodes_2" presStyleLbl="node1" presStyleIdx="1" presStyleCnt="5">
        <dgm:presLayoutVars>
          <dgm:bulletEnabled val="1"/>
        </dgm:presLayoutVars>
      </dgm:prSet>
      <dgm:spPr/>
    </dgm:pt>
    <dgm:pt modelId="{04B482DC-D96A-4F4B-881A-59C82335D97A}" type="pres">
      <dgm:prSet presAssocID="{D5087A49-1917-43EF-B08E-D6E5594DD163}" presName="FiveNodes_3" presStyleLbl="node1" presStyleIdx="2" presStyleCnt="5">
        <dgm:presLayoutVars>
          <dgm:bulletEnabled val="1"/>
        </dgm:presLayoutVars>
      </dgm:prSet>
      <dgm:spPr/>
    </dgm:pt>
    <dgm:pt modelId="{840220A5-2F5F-4DE3-A592-7DE37929348F}" type="pres">
      <dgm:prSet presAssocID="{D5087A49-1917-43EF-B08E-D6E5594DD163}" presName="FiveNodes_4" presStyleLbl="node1" presStyleIdx="3" presStyleCnt="5">
        <dgm:presLayoutVars>
          <dgm:bulletEnabled val="1"/>
        </dgm:presLayoutVars>
      </dgm:prSet>
      <dgm:spPr/>
    </dgm:pt>
    <dgm:pt modelId="{664DDD9F-3715-4D9F-9D50-B448B1254DDE}" type="pres">
      <dgm:prSet presAssocID="{D5087A49-1917-43EF-B08E-D6E5594DD163}" presName="FiveNodes_5" presStyleLbl="node1" presStyleIdx="4" presStyleCnt="5">
        <dgm:presLayoutVars>
          <dgm:bulletEnabled val="1"/>
        </dgm:presLayoutVars>
      </dgm:prSet>
      <dgm:spPr/>
    </dgm:pt>
    <dgm:pt modelId="{0DFC46B9-D408-4012-931D-9CCC77C4DDED}" type="pres">
      <dgm:prSet presAssocID="{D5087A49-1917-43EF-B08E-D6E5594DD163}" presName="FiveConn_1-2" presStyleLbl="fgAccFollowNode1" presStyleIdx="0" presStyleCnt="4">
        <dgm:presLayoutVars>
          <dgm:bulletEnabled val="1"/>
        </dgm:presLayoutVars>
      </dgm:prSet>
      <dgm:spPr/>
    </dgm:pt>
    <dgm:pt modelId="{41C910C0-1A91-43F5-B224-E3656E09F30A}" type="pres">
      <dgm:prSet presAssocID="{D5087A49-1917-43EF-B08E-D6E5594DD163}" presName="FiveConn_2-3" presStyleLbl="fgAccFollowNode1" presStyleIdx="1" presStyleCnt="4">
        <dgm:presLayoutVars>
          <dgm:bulletEnabled val="1"/>
        </dgm:presLayoutVars>
      </dgm:prSet>
      <dgm:spPr/>
    </dgm:pt>
    <dgm:pt modelId="{B079E6B3-49CD-4031-A758-C9AE7E639960}" type="pres">
      <dgm:prSet presAssocID="{D5087A49-1917-43EF-B08E-D6E5594DD163}" presName="FiveConn_3-4" presStyleLbl="fgAccFollowNode1" presStyleIdx="2" presStyleCnt="4">
        <dgm:presLayoutVars>
          <dgm:bulletEnabled val="1"/>
        </dgm:presLayoutVars>
      </dgm:prSet>
      <dgm:spPr/>
    </dgm:pt>
    <dgm:pt modelId="{9E75B5FB-0969-4563-8AC6-777C8F8E83B4}" type="pres">
      <dgm:prSet presAssocID="{D5087A49-1917-43EF-B08E-D6E5594DD163}" presName="FiveConn_4-5" presStyleLbl="fgAccFollowNode1" presStyleIdx="3" presStyleCnt="4">
        <dgm:presLayoutVars>
          <dgm:bulletEnabled val="1"/>
        </dgm:presLayoutVars>
      </dgm:prSet>
      <dgm:spPr/>
    </dgm:pt>
    <dgm:pt modelId="{28839BCE-FA8C-4618-92E3-36B00072E7F3}" type="pres">
      <dgm:prSet presAssocID="{D5087A49-1917-43EF-B08E-D6E5594DD163}" presName="FiveNodes_1_text" presStyleLbl="node1" presStyleIdx="4" presStyleCnt="5">
        <dgm:presLayoutVars>
          <dgm:bulletEnabled val="1"/>
        </dgm:presLayoutVars>
      </dgm:prSet>
      <dgm:spPr/>
    </dgm:pt>
    <dgm:pt modelId="{7F55938F-98DB-43B8-AB39-F222A07C096E}" type="pres">
      <dgm:prSet presAssocID="{D5087A49-1917-43EF-B08E-D6E5594DD163}" presName="FiveNodes_2_text" presStyleLbl="node1" presStyleIdx="4" presStyleCnt="5">
        <dgm:presLayoutVars>
          <dgm:bulletEnabled val="1"/>
        </dgm:presLayoutVars>
      </dgm:prSet>
      <dgm:spPr/>
    </dgm:pt>
    <dgm:pt modelId="{7328054C-BAD3-42FD-92F4-3E71BB460F8A}" type="pres">
      <dgm:prSet presAssocID="{D5087A49-1917-43EF-B08E-D6E5594DD163}" presName="FiveNodes_3_text" presStyleLbl="node1" presStyleIdx="4" presStyleCnt="5">
        <dgm:presLayoutVars>
          <dgm:bulletEnabled val="1"/>
        </dgm:presLayoutVars>
      </dgm:prSet>
      <dgm:spPr/>
    </dgm:pt>
    <dgm:pt modelId="{D02914A2-E049-439E-8CF4-210A69141C35}" type="pres">
      <dgm:prSet presAssocID="{D5087A49-1917-43EF-B08E-D6E5594DD163}" presName="FiveNodes_4_text" presStyleLbl="node1" presStyleIdx="4" presStyleCnt="5">
        <dgm:presLayoutVars>
          <dgm:bulletEnabled val="1"/>
        </dgm:presLayoutVars>
      </dgm:prSet>
      <dgm:spPr/>
    </dgm:pt>
    <dgm:pt modelId="{EBC0FF63-BC05-4BBA-9894-67B3CAE5105F}" type="pres">
      <dgm:prSet presAssocID="{D5087A49-1917-43EF-B08E-D6E5594DD163}" presName="FiveNodes_5_text" presStyleLbl="node1" presStyleIdx="4" presStyleCnt="5">
        <dgm:presLayoutVars>
          <dgm:bulletEnabled val="1"/>
        </dgm:presLayoutVars>
      </dgm:prSet>
      <dgm:spPr/>
    </dgm:pt>
  </dgm:ptLst>
  <dgm:cxnLst>
    <dgm:cxn modelId="{D8DE2211-7FF8-4376-B171-48D80EE1D63C}" type="presOf" srcId="{B85F400E-487E-40D3-B1B6-FD9562D54DB0}" destId="{41C910C0-1A91-43F5-B224-E3656E09F30A}" srcOrd="0" destOrd="0" presId="urn:microsoft.com/office/officeart/2005/8/layout/vProcess5"/>
    <dgm:cxn modelId="{DB60B425-D309-4F48-AB31-5D2E5EC909C6}" srcId="{D5087A49-1917-43EF-B08E-D6E5594DD163}" destId="{0B7BB4A7-E3DB-4FFC-BAA8-919AD60F47D4}" srcOrd="3" destOrd="0" parTransId="{84F89DF6-CC84-49E7-88BA-65F787535AA6}" sibTransId="{255D8FA1-0A06-4221-8E54-223683531495}"/>
    <dgm:cxn modelId="{BD36FA2D-4042-4572-BF2A-56C9A3BB1AAA}" type="presOf" srcId="{9E066C0C-A281-4A81-A1DE-0D5FC319B7D9}" destId="{7F55938F-98DB-43B8-AB39-F222A07C096E}" srcOrd="1" destOrd="0" presId="urn:microsoft.com/office/officeart/2005/8/layout/vProcess5"/>
    <dgm:cxn modelId="{DED09F3E-CBEF-400F-8A34-83EEF1DAA7E0}" type="presOf" srcId="{0B7BB4A7-E3DB-4FFC-BAA8-919AD60F47D4}" destId="{D02914A2-E049-439E-8CF4-210A69141C35}" srcOrd="1" destOrd="0" presId="urn:microsoft.com/office/officeart/2005/8/layout/vProcess5"/>
    <dgm:cxn modelId="{5F896F61-65A8-4728-8CD0-3E1182F5D1EC}" srcId="{D5087A49-1917-43EF-B08E-D6E5594DD163}" destId="{3DD66B99-789A-4388-8214-38F854B96FFD}" srcOrd="4" destOrd="0" parTransId="{E44CC021-FC84-40D7-88E3-224F375C89E2}" sibTransId="{362C7078-E8AD-4790-A192-929C91A78737}"/>
    <dgm:cxn modelId="{E022456B-CE6A-4498-9246-34F61259913A}" type="presOf" srcId="{3DD66B99-789A-4388-8214-38F854B96FFD}" destId="{664DDD9F-3715-4D9F-9D50-B448B1254DDE}" srcOrd="0" destOrd="0" presId="urn:microsoft.com/office/officeart/2005/8/layout/vProcess5"/>
    <dgm:cxn modelId="{27413F6F-7B3B-4556-A74A-464369D0BDFF}" type="presOf" srcId="{BFB052DF-ABC5-47DB-A9F4-C36BB639E3D1}" destId="{B079E6B3-49CD-4031-A758-C9AE7E639960}" srcOrd="0" destOrd="0" presId="urn:microsoft.com/office/officeart/2005/8/layout/vProcess5"/>
    <dgm:cxn modelId="{C0E5CB84-119D-4C66-AD5A-04A9CCF77A3D}" type="presOf" srcId="{560B817A-A9A0-427C-B9A1-E1F1ABCC86B0}" destId="{04B482DC-D96A-4F4B-881A-59C82335D97A}" srcOrd="0" destOrd="0" presId="urn:microsoft.com/office/officeart/2005/8/layout/vProcess5"/>
    <dgm:cxn modelId="{39DC1A91-E39C-4703-ABE5-E3E7F98D800A}" srcId="{D5087A49-1917-43EF-B08E-D6E5594DD163}" destId="{28CC6B63-939B-43DB-95B8-6113317E0FCA}" srcOrd="0" destOrd="0" parTransId="{8B7BD027-6722-415F-B6A3-B28F604EA9A5}" sibTransId="{4EFC5090-1E51-476E-8F6B-3DD31660A53E}"/>
    <dgm:cxn modelId="{FF017697-3308-4C9A-B445-15960652D3F2}" type="presOf" srcId="{3DD66B99-789A-4388-8214-38F854B96FFD}" destId="{EBC0FF63-BC05-4BBA-9894-67B3CAE5105F}" srcOrd="1" destOrd="0" presId="urn:microsoft.com/office/officeart/2005/8/layout/vProcess5"/>
    <dgm:cxn modelId="{E4449DB4-F962-4F58-BC97-891351ED096C}" type="presOf" srcId="{0B7BB4A7-E3DB-4FFC-BAA8-919AD60F47D4}" destId="{840220A5-2F5F-4DE3-A592-7DE37929348F}" srcOrd="0" destOrd="0" presId="urn:microsoft.com/office/officeart/2005/8/layout/vProcess5"/>
    <dgm:cxn modelId="{DF3687BB-BF32-4F9B-A751-EA2A2AD5E18D}" type="presOf" srcId="{9E066C0C-A281-4A81-A1DE-0D5FC319B7D9}" destId="{01513030-23A3-4295-BBA9-EBFA2B2E3768}" srcOrd="0" destOrd="0" presId="urn:microsoft.com/office/officeart/2005/8/layout/vProcess5"/>
    <dgm:cxn modelId="{7319CCC0-B051-E64C-BB27-1B9B97BBCB6A}" type="presOf" srcId="{D5087A49-1917-43EF-B08E-D6E5594DD163}" destId="{25837FDE-2D8C-6247-ADC7-3E01378F7CFE}" srcOrd="0" destOrd="0" presId="urn:microsoft.com/office/officeart/2005/8/layout/vProcess5"/>
    <dgm:cxn modelId="{84059AD5-0D3D-439B-80A2-F40B818F518F}" srcId="{D5087A49-1917-43EF-B08E-D6E5594DD163}" destId="{9E066C0C-A281-4A81-A1DE-0D5FC319B7D9}" srcOrd="1" destOrd="0" parTransId="{23D7818C-F361-47DC-8957-0E4F4BA0363C}" sibTransId="{B85F400E-487E-40D3-B1B6-FD9562D54DB0}"/>
    <dgm:cxn modelId="{DC1265D8-03D3-4E0D-A524-F4283350326D}" srcId="{D5087A49-1917-43EF-B08E-D6E5594DD163}" destId="{560B817A-A9A0-427C-B9A1-E1F1ABCC86B0}" srcOrd="2" destOrd="0" parTransId="{385500F3-756D-4E26-849D-B676E6944EE7}" sibTransId="{BFB052DF-ABC5-47DB-A9F4-C36BB639E3D1}"/>
    <dgm:cxn modelId="{423AA9E7-B084-4561-8160-F450571B56A0}" type="presOf" srcId="{28CC6B63-939B-43DB-95B8-6113317E0FCA}" destId="{8289CF73-CF33-4811-A64D-237AE025A0F1}" srcOrd="0" destOrd="0" presId="urn:microsoft.com/office/officeart/2005/8/layout/vProcess5"/>
    <dgm:cxn modelId="{A87B63EE-9A0F-47C8-AD59-D9E1EDA1F842}" type="presOf" srcId="{255D8FA1-0A06-4221-8E54-223683531495}" destId="{9E75B5FB-0969-4563-8AC6-777C8F8E83B4}" srcOrd="0" destOrd="0" presId="urn:microsoft.com/office/officeart/2005/8/layout/vProcess5"/>
    <dgm:cxn modelId="{B7CE18F5-D15A-43FC-AE69-23901F954B0B}" type="presOf" srcId="{560B817A-A9A0-427C-B9A1-E1F1ABCC86B0}" destId="{7328054C-BAD3-42FD-92F4-3E71BB460F8A}" srcOrd="1" destOrd="0" presId="urn:microsoft.com/office/officeart/2005/8/layout/vProcess5"/>
    <dgm:cxn modelId="{83BF59F5-6280-4DDD-BCDF-AD0EB69795A4}" type="presOf" srcId="{4EFC5090-1E51-476E-8F6B-3DD31660A53E}" destId="{0DFC46B9-D408-4012-931D-9CCC77C4DDED}" srcOrd="0" destOrd="0" presId="urn:microsoft.com/office/officeart/2005/8/layout/vProcess5"/>
    <dgm:cxn modelId="{A35B2FF7-C84A-48ED-8459-F341C2FBFBD9}" type="presOf" srcId="{28CC6B63-939B-43DB-95B8-6113317E0FCA}" destId="{28839BCE-FA8C-4618-92E3-36B00072E7F3}" srcOrd="1" destOrd="0" presId="urn:microsoft.com/office/officeart/2005/8/layout/vProcess5"/>
    <dgm:cxn modelId="{D8A1DDF6-5A43-3C4A-BEE7-C1C2ACA638FD}" type="presParOf" srcId="{25837FDE-2D8C-6247-ADC7-3E01378F7CFE}" destId="{80734C5A-242E-2B47-8D21-6BAC76F568B6}" srcOrd="0" destOrd="0" presId="urn:microsoft.com/office/officeart/2005/8/layout/vProcess5"/>
    <dgm:cxn modelId="{A8C17468-FC55-4459-93B8-575B35A33136}" type="presParOf" srcId="{25837FDE-2D8C-6247-ADC7-3E01378F7CFE}" destId="{8289CF73-CF33-4811-A64D-237AE025A0F1}" srcOrd="1" destOrd="0" presId="urn:microsoft.com/office/officeart/2005/8/layout/vProcess5"/>
    <dgm:cxn modelId="{D2D84F2F-58D6-49A9-9B1C-579FA4300B65}" type="presParOf" srcId="{25837FDE-2D8C-6247-ADC7-3E01378F7CFE}" destId="{01513030-23A3-4295-BBA9-EBFA2B2E3768}" srcOrd="2" destOrd="0" presId="urn:microsoft.com/office/officeart/2005/8/layout/vProcess5"/>
    <dgm:cxn modelId="{92A29A7A-725F-4F30-82A1-673FFE278208}" type="presParOf" srcId="{25837FDE-2D8C-6247-ADC7-3E01378F7CFE}" destId="{04B482DC-D96A-4F4B-881A-59C82335D97A}" srcOrd="3" destOrd="0" presId="urn:microsoft.com/office/officeart/2005/8/layout/vProcess5"/>
    <dgm:cxn modelId="{6C3E8A62-93ED-498F-B86B-7DDC7C0211B9}" type="presParOf" srcId="{25837FDE-2D8C-6247-ADC7-3E01378F7CFE}" destId="{840220A5-2F5F-4DE3-A592-7DE37929348F}" srcOrd="4" destOrd="0" presId="urn:microsoft.com/office/officeart/2005/8/layout/vProcess5"/>
    <dgm:cxn modelId="{CA15A7CB-D19D-4B6A-95E3-D27D025E0448}" type="presParOf" srcId="{25837FDE-2D8C-6247-ADC7-3E01378F7CFE}" destId="{664DDD9F-3715-4D9F-9D50-B448B1254DDE}" srcOrd="5" destOrd="0" presId="urn:microsoft.com/office/officeart/2005/8/layout/vProcess5"/>
    <dgm:cxn modelId="{6ACAA1BF-DE7C-4B90-AD7F-963383FC106A}" type="presParOf" srcId="{25837FDE-2D8C-6247-ADC7-3E01378F7CFE}" destId="{0DFC46B9-D408-4012-931D-9CCC77C4DDED}" srcOrd="6" destOrd="0" presId="urn:microsoft.com/office/officeart/2005/8/layout/vProcess5"/>
    <dgm:cxn modelId="{3B99B1A0-2BC1-4596-8C88-93E429167B76}" type="presParOf" srcId="{25837FDE-2D8C-6247-ADC7-3E01378F7CFE}" destId="{41C910C0-1A91-43F5-B224-E3656E09F30A}" srcOrd="7" destOrd="0" presId="urn:microsoft.com/office/officeart/2005/8/layout/vProcess5"/>
    <dgm:cxn modelId="{1C36CAFD-AE72-4BD3-A157-4568DDB3305C}" type="presParOf" srcId="{25837FDE-2D8C-6247-ADC7-3E01378F7CFE}" destId="{B079E6B3-49CD-4031-A758-C9AE7E639960}" srcOrd="8" destOrd="0" presId="urn:microsoft.com/office/officeart/2005/8/layout/vProcess5"/>
    <dgm:cxn modelId="{9DB0DD39-A6C5-494B-91DC-C772ECE5ED6E}" type="presParOf" srcId="{25837FDE-2D8C-6247-ADC7-3E01378F7CFE}" destId="{9E75B5FB-0969-4563-8AC6-777C8F8E83B4}" srcOrd="9" destOrd="0" presId="urn:microsoft.com/office/officeart/2005/8/layout/vProcess5"/>
    <dgm:cxn modelId="{821F2628-A6C5-47EA-B29D-6FF5E8E58266}" type="presParOf" srcId="{25837FDE-2D8C-6247-ADC7-3E01378F7CFE}" destId="{28839BCE-FA8C-4618-92E3-36B00072E7F3}" srcOrd="10" destOrd="0" presId="urn:microsoft.com/office/officeart/2005/8/layout/vProcess5"/>
    <dgm:cxn modelId="{C43D0697-3473-4DBB-AC55-A04E5FB99153}" type="presParOf" srcId="{25837FDE-2D8C-6247-ADC7-3E01378F7CFE}" destId="{7F55938F-98DB-43B8-AB39-F222A07C096E}" srcOrd="11" destOrd="0" presId="urn:microsoft.com/office/officeart/2005/8/layout/vProcess5"/>
    <dgm:cxn modelId="{A3D4A074-DF83-4145-82E7-68B3CF05D3BA}" type="presParOf" srcId="{25837FDE-2D8C-6247-ADC7-3E01378F7CFE}" destId="{7328054C-BAD3-42FD-92F4-3E71BB460F8A}" srcOrd="12" destOrd="0" presId="urn:microsoft.com/office/officeart/2005/8/layout/vProcess5"/>
    <dgm:cxn modelId="{9C1260F0-01B5-4913-A6F2-D1CADE254BC2}" type="presParOf" srcId="{25837FDE-2D8C-6247-ADC7-3E01378F7CFE}" destId="{D02914A2-E049-439E-8CF4-210A69141C35}" srcOrd="13" destOrd="0" presId="urn:microsoft.com/office/officeart/2005/8/layout/vProcess5"/>
    <dgm:cxn modelId="{250215F4-4517-47D6-B8E0-257DFCD6AD1C}" type="presParOf" srcId="{25837FDE-2D8C-6247-ADC7-3E01378F7CFE}" destId="{EBC0FF63-BC05-4BBA-9894-67B3CAE5105F}"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8559CA-4F58-42F6-8687-E906F67ED2B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F985B16-E62D-4885-8673-A19C94EB3629}">
      <dgm:prSet/>
      <dgm:spPr/>
      <dgm:t>
        <a:bodyPr/>
        <a:lstStyle/>
        <a:p>
          <a:r>
            <a:rPr lang="en-US"/>
            <a:t>Import new components when they don’t exist in KiCAD’s default library</a:t>
          </a:r>
        </a:p>
      </dgm:t>
    </dgm:pt>
    <dgm:pt modelId="{A2D5BED5-6677-477C-8ED3-CC53B68D213D}" type="parTrans" cxnId="{89532EC1-0807-41E6-8DCE-668D48D3DA49}">
      <dgm:prSet/>
      <dgm:spPr/>
      <dgm:t>
        <a:bodyPr/>
        <a:lstStyle/>
        <a:p>
          <a:endParaRPr lang="en-US"/>
        </a:p>
      </dgm:t>
    </dgm:pt>
    <dgm:pt modelId="{C2BD34A9-32F4-4B9D-A335-CB14816C9F05}" type="sibTrans" cxnId="{89532EC1-0807-41E6-8DCE-668D48D3DA49}">
      <dgm:prSet/>
      <dgm:spPr/>
      <dgm:t>
        <a:bodyPr/>
        <a:lstStyle/>
        <a:p>
          <a:endParaRPr lang="en-US"/>
        </a:p>
      </dgm:t>
    </dgm:pt>
    <dgm:pt modelId="{CE6C783F-2818-409F-ABEA-E00A2EB0BFAB}">
      <dgm:prSet/>
      <dgm:spPr/>
      <dgm:t>
        <a:bodyPr/>
        <a:lstStyle/>
        <a:p>
          <a:r>
            <a:rPr lang="en-US"/>
            <a:t>Most parts suppliers (Digikey, Mouser, etc.) provide free downloads of the required library files</a:t>
          </a:r>
        </a:p>
      </dgm:t>
    </dgm:pt>
    <dgm:pt modelId="{47DE104B-64B1-4695-B8DF-CF83A84A6C35}" type="parTrans" cxnId="{2812C346-A4CC-440C-8E07-404F12FBE458}">
      <dgm:prSet/>
      <dgm:spPr/>
      <dgm:t>
        <a:bodyPr/>
        <a:lstStyle/>
        <a:p>
          <a:endParaRPr lang="en-US"/>
        </a:p>
      </dgm:t>
    </dgm:pt>
    <dgm:pt modelId="{F22B6CBF-4483-4943-BBA9-A9AB5D83FF5F}" type="sibTrans" cxnId="{2812C346-A4CC-440C-8E07-404F12FBE458}">
      <dgm:prSet/>
      <dgm:spPr/>
      <dgm:t>
        <a:bodyPr/>
        <a:lstStyle/>
        <a:p>
          <a:endParaRPr lang="en-US"/>
        </a:p>
      </dgm:t>
    </dgm:pt>
    <dgm:pt modelId="{E51AA641-D9C7-2D46-A8A3-4E0849D2513B}" type="pres">
      <dgm:prSet presAssocID="{E48559CA-4F58-42F6-8687-E906F67ED2BB}" presName="linear" presStyleCnt="0">
        <dgm:presLayoutVars>
          <dgm:animLvl val="lvl"/>
          <dgm:resizeHandles val="exact"/>
        </dgm:presLayoutVars>
      </dgm:prSet>
      <dgm:spPr/>
    </dgm:pt>
    <dgm:pt modelId="{0C34C9F7-3C9C-8D4E-99B9-DF0E3A58BAF0}" type="pres">
      <dgm:prSet presAssocID="{AF985B16-E62D-4885-8673-A19C94EB3629}" presName="parentText" presStyleLbl="node1" presStyleIdx="0" presStyleCnt="2">
        <dgm:presLayoutVars>
          <dgm:chMax val="0"/>
          <dgm:bulletEnabled val="1"/>
        </dgm:presLayoutVars>
      </dgm:prSet>
      <dgm:spPr/>
    </dgm:pt>
    <dgm:pt modelId="{C45A3C85-97CB-DA46-9CE4-78F2591874DD}" type="pres">
      <dgm:prSet presAssocID="{C2BD34A9-32F4-4B9D-A335-CB14816C9F05}" presName="spacer" presStyleCnt="0"/>
      <dgm:spPr/>
    </dgm:pt>
    <dgm:pt modelId="{EAAAB01F-1B65-5940-91D4-605B4E67278C}" type="pres">
      <dgm:prSet presAssocID="{CE6C783F-2818-409F-ABEA-E00A2EB0BFAB}" presName="parentText" presStyleLbl="node1" presStyleIdx="1" presStyleCnt="2">
        <dgm:presLayoutVars>
          <dgm:chMax val="0"/>
          <dgm:bulletEnabled val="1"/>
        </dgm:presLayoutVars>
      </dgm:prSet>
      <dgm:spPr/>
    </dgm:pt>
  </dgm:ptLst>
  <dgm:cxnLst>
    <dgm:cxn modelId="{6898D125-6898-FD45-A147-6E0491179D29}" type="presOf" srcId="{CE6C783F-2818-409F-ABEA-E00A2EB0BFAB}" destId="{EAAAB01F-1B65-5940-91D4-605B4E67278C}" srcOrd="0" destOrd="0" presId="urn:microsoft.com/office/officeart/2005/8/layout/vList2"/>
    <dgm:cxn modelId="{2812C346-A4CC-440C-8E07-404F12FBE458}" srcId="{E48559CA-4F58-42F6-8687-E906F67ED2BB}" destId="{CE6C783F-2818-409F-ABEA-E00A2EB0BFAB}" srcOrd="1" destOrd="0" parTransId="{47DE104B-64B1-4695-B8DF-CF83A84A6C35}" sibTransId="{F22B6CBF-4483-4943-BBA9-A9AB5D83FF5F}"/>
    <dgm:cxn modelId="{2A381D4B-A881-6640-8C73-B5AD98247BE9}" type="presOf" srcId="{E48559CA-4F58-42F6-8687-E906F67ED2BB}" destId="{E51AA641-D9C7-2D46-A8A3-4E0849D2513B}" srcOrd="0" destOrd="0" presId="urn:microsoft.com/office/officeart/2005/8/layout/vList2"/>
    <dgm:cxn modelId="{9E2FE5A9-8F17-C34C-8AA9-CBFE962821D4}" type="presOf" srcId="{AF985B16-E62D-4885-8673-A19C94EB3629}" destId="{0C34C9F7-3C9C-8D4E-99B9-DF0E3A58BAF0}" srcOrd="0" destOrd="0" presId="urn:microsoft.com/office/officeart/2005/8/layout/vList2"/>
    <dgm:cxn modelId="{89532EC1-0807-41E6-8DCE-668D48D3DA49}" srcId="{E48559CA-4F58-42F6-8687-E906F67ED2BB}" destId="{AF985B16-E62D-4885-8673-A19C94EB3629}" srcOrd="0" destOrd="0" parTransId="{A2D5BED5-6677-477C-8ED3-CC53B68D213D}" sibTransId="{C2BD34A9-32F4-4B9D-A335-CB14816C9F05}"/>
    <dgm:cxn modelId="{76A11F14-D73D-E945-B181-E841A16AFDD5}" type="presParOf" srcId="{E51AA641-D9C7-2D46-A8A3-4E0849D2513B}" destId="{0C34C9F7-3C9C-8D4E-99B9-DF0E3A58BAF0}" srcOrd="0" destOrd="0" presId="urn:microsoft.com/office/officeart/2005/8/layout/vList2"/>
    <dgm:cxn modelId="{59FEC642-B735-1D44-A482-E14DD41B7F84}" type="presParOf" srcId="{E51AA641-D9C7-2D46-A8A3-4E0849D2513B}" destId="{C45A3C85-97CB-DA46-9CE4-78F2591874DD}" srcOrd="1" destOrd="0" presId="urn:microsoft.com/office/officeart/2005/8/layout/vList2"/>
    <dgm:cxn modelId="{CE875A78-C633-E745-AB96-426ACCE45DCA}" type="presParOf" srcId="{E51AA641-D9C7-2D46-A8A3-4E0849D2513B}" destId="{EAAAB01F-1B65-5940-91D4-605B4E67278C}"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89CF73-CF33-4811-A64D-237AE025A0F1}">
      <dsp:nvSpPr>
        <dsp:cNvPr id="0" name=""/>
        <dsp:cNvSpPr/>
      </dsp:nvSpPr>
      <dsp:spPr>
        <a:xfrm>
          <a:off x="0" y="0"/>
          <a:ext cx="4077749" cy="1030962"/>
        </a:xfrm>
        <a:prstGeom prst="roundRect">
          <a:avLst>
            <a:gd name="adj" fmla="val 10000"/>
          </a:avLst>
        </a:prstGeom>
        <a:solidFill>
          <a:schemeClr val="accent3">
            <a:alpha val="9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Schematic</a:t>
          </a:r>
        </a:p>
      </dsp:txBody>
      <dsp:txXfrm>
        <a:off x="30196" y="30196"/>
        <a:ext cx="2844637" cy="970570"/>
      </dsp:txXfrm>
    </dsp:sp>
    <dsp:sp modelId="{01513030-23A3-4295-BBA9-EBFA2B2E3768}">
      <dsp:nvSpPr>
        <dsp:cNvPr id="0" name=""/>
        <dsp:cNvSpPr/>
      </dsp:nvSpPr>
      <dsp:spPr>
        <a:xfrm>
          <a:off x="304507" y="1174151"/>
          <a:ext cx="4077749" cy="1030962"/>
        </a:xfrm>
        <a:prstGeom prst="roundRect">
          <a:avLst>
            <a:gd name="adj" fmla="val 10000"/>
          </a:avLst>
        </a:prstGeom>
        <a:solidFill>
          <a:schemeClr val="accent3">
            <a:alpha val="90000"/>
            <a:hueOff val="0"/>
            <a:satOff val="0"/>
            <a:lumOff val="0"/>
            <a:alphaOff val="-1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Footprints</a:t>
          </a:r>
        </a:p>
      </dsp:txBody>
      <dsp:txXfrm>
        <a:off x="334703" y="1204347"/>
        <a:ext cx="3042724" cy="970570"/>
      </dsp:txXfrm>
    </dsp:sp>
    <dsp:sp modelId="{04B482DC-D96A-4F4B-881A-59C82335D97A}">
      <dsp:nvSpPr>
        <dsp:cNvPr id="0" name=""/>
        <dsp:cNvSpPr/>
      </dsp:nvSpPr>
      <dsp:spPr>
        <a:xfrm>
          <a:off x="609014" y="2348302"/>
          <a:ext cx="4077749" cy="1030962"/>
        </a:xfrm>
        <a:prstGeom prst="roundRect">
          <a:avLst>
            <a:gd name="adj" fmla="val 10000"/>
          </a:avLst>
        </a:prstGeom>
        <a:solidFill>
          <a:schemeClr val="accent3">
            <a:alpha val="90000"/>
            <a:hueOff val="0"/>
            <a:satOff val="0"/>
            <a:lumOff val="0"/>
            <a:alphaOff val="-2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PCB Layout</a:t>
          </a:r>
        </a:p>
      </dsp:txBody>
      <dsp:txXfrm>
        <a:off x="639210" y="2378498"/>
        <a:ext cx="3042724" cy="970570"/>
      </dsp:txXfrm>
    </dsp:sp>
    <dsp:sp modelId="{840220A5-2F5F-4DE3-A592-7DE37929348F}">
      <dsp:nvSpPr>
        <dsp:cNvPr id="0" name=""/>
        <dsp:cNvSpPr/>
      </dsp:nvSpPr>
      <dsp:spPr>
        <a:xfrm>
          <a:off x="913521" y="3522454"/>
          <a:ext cx="4077749" cy="1030962"/>
        </a:xfrm>
        <a:prstGeom prst="roundRect">
          <a:avLst>
            <a:gd name="adj" fmla="val 10000"/>
          </a:avLst>
        </a:prstGeom>
        <a:solidFill>
          <a:schemeClr val="accent3">
            <a:alpha val="90000"/>
            <a:hueOff val="0"/>
            <a:satOff val="0"/>
            <a:lumOff val="0"/>
            <a:alphaOff val="-3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PCB Routing</a:t>
          </a:r>
        </a:p>
      </dsp:txBody>
      <dsp:txXfrm>
        <a:off x="943717" y="3552650"/>
        <a:ext cx="3042724" cy="970570"/>
      </dsp:txXfrm>
    </dsp:sp>
    <dsp:sp modelId="{664DDD9F-3715-4D9F-9D50-B448B1254DDE}">
      <dsp:nvSpPr>
        <dsp:cNvPr id="0" name=""/>
        <dsp:cNvSpPr/>
      </dsp:nvSpPr>
      <dsp:spPr>
        <a:xfrm>
          <a:off x="1218028" y="4696605"/>
          <a:ext cx="4077749" cy="1030962"/>
        </a:xfrm>
        <a:prstGeom prst="roundRect">
          <a:avLst>
            <a:gd name="adj" fmla="val 10000"/>
          </a:avLst>
        </a:prstGeom>
        <a:solidFill>
          <a:schemeClr val="accent3">
            <a:alpha val="90000"/>
            <a:hueOff val="0"/>
            <a:satOff val="0"/>
            <a:lumOff val="0"/>
            <a:alphaOff val="-4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Export to Gerber</a:t>
          </a:r>
        </a:p>
      </dsp:txBody>
      <dsp:txXfrm>
        <a:off x="1248224" y="4726801"/>
        <a:ext cx="3042724" cy="970570"/>
      </dsp:txXfrm>
    </dsp:sp>
    <dsp:sp modelId="{0DFC46B9-D408-4012-931D-9CCC77C4DDED}">
      <dsp:nvSpPr>
        <dsp:cNvPr id="0" name=""/>
        <dsp:cNvSpPr/>
      </dsp:nvSpPr>
      <dsp:spPr>
        <a:xfrm>
          <a:off x="3407623" y="753175"/>
          <a:ext cx="670125" cy="670125"/>
        </a:xfrm>
        <a:prstGeom prst="downArrow">
          <a:avLst>
            <a:gd name="adj1" fmla="val 55000"/>
            <a:gd name="adj2" fmla="val 45000"/>
          </a:avLst>
        </a:prstGeom>
        <a:solidFill>
          <a:schemeClr val="accent3">
            <a:alpha val="90000"/>
            <a:tint val="40000"/>
            <a:hueOff val="0"/>
            <a:satOff val="0"/>
            <a:lumOff val="0"/>
            <a:alphaOff val="0"/>
          </a:schemeClr>
        </a:solidFill>
        <a:ln w="15875"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3558401" y="753175"/>
        <a:ext cx="368569" cy="504269"/>
      </dsp:txXfrm>
    </dsp:sp>
    <dsp:sp modelId="{41C910C0-1A91-43F5-B224-E3656E09F30A}">
      <dsp:nvSpPr>
        <dsp:cNvPr id="0" name=""/>
        <dsp:cNvSpPr/>
      </dsp:nvSpPr>
      <dsp:spPr>
        <a:xfrm>
          <a:off x="3712130" y="1927326"/>
          <a:ext cx="670125" cy="670125"/>
        </a:xfrm>
        <a:prstGeom prst="downArrow">
          <a:avLst>
            <a:gd name="adj1" fmla="val 55000"/>
            <a:gd name="adj2" fmla="val 45000"/>
          </a:avLst>
        </a:prstGeom>
        <a:solidFill>
          <a:schemeClr val="accent3">
            <a:alpha val="90000"/>
            <a:tint val="40000"/>
            <a:hueOff val="0"/>
            <a:satOff val="0"/>
            <a:lumOff val="0"/>
            <a:alphaOff val="-13333"/>
          </a:schemeClr>
        </a:solidFill>
        <a:ln w="15875"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3862908" y="1927326"/>
        <a:ext cx="368569" cy="504269"/>
      </dsp:txXfrm>
    </dsp:sp>
    <dsp:sp modelId="{B079E6B3-49CD-4031-A758-C9AE7E639960}">
      <dsp:nvSpPr>
        <dsp:cNvPr id="0" name=""/>
        <dsp:cNvSpPr/>
      </dsp:nvSpPr>
      <dsp:spPr>
        <a:xfrm>
          <a:off x="4016638" y="3084295"/>
          <a:ext cx="670125" cy="670125"/>
        </a:xfrm>
        <a:prstGeom prst="downArrow">
          <a:avLst>
            <a:gd name="adj1" fmla="val 55000"/>
            <a:gd name="adj2" fmla="val 45000"/>
          </a:avLst>
        </a:prstGeom>
        <a:solidFill>
          <a:schemeClr val="accent3">
            <a:alpha val="90000"/>
            <a:tint val="40000"/>
            <a:hueOff val="0"/>
            <a:satOff val="0"/>
            <a:lumOff val="0"/>
            <a:alphaOff val="-26667"/>
          </a:schemeClr>
        </a:solidFill>
        <a:ln w="15875"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4167416" y="3084295"/>
        <a:ext cx="368569" cy="504269"/>
      </dsp:txXfrm>
    </dsp:sp>
    <dsp:sp modelId="{9E75B5FB-0969-4563-8AC6-777C8F8E83B4}">
      <dsp:nvSpPr>
        <dsp:cNvPr id="0" name=""/>
        <dsp:cNvSpPr/>
      </dsp:nvSpPr>
      <dsp:spPr>
        <a:xfrm>
          <a:off x="4321145" y="4269901"/>
          <a:ext cx="670125" cy="670125"/>
        </a:xfrm>
        <a:prstGeom prst="downArrow">
          <a:avLst>
            <a:gd name="adj1" fmla="val 55000"/>
            <a:gd name="adj2" fmla="val 45000"/>
          </a:avLst>
        </a:prstGeom>
        <a:solidFill>
          <a:schemeClr val="accent3">
            <a:alpha val="90000"/>
            <a:tint val="40000"/>
            <a:hueOff val="0"/>
            <a:satOff val="0"/>
            <a:lumOff val="0"/>
            <a:alphaOff val="-40000"/>
          </a:schemeClr>
        </a:solidFill>
        <a:ln w="15875"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4471923" y="4269901"/>
        <a:ext cx="368569" cy="5042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34C9F7-3C9C-8D4E-99B9-DF0E3A58BAF0}">
      <dsp:nvSpPr>
        <dsp:cNvPr id="0" name=""/>
        <dsp:cNvSpPr/>
      </dsp:nvSpPr>
      <dsp:spPr>
        <a:xfrm>
          <a:off x="0" y="90156"/>
          <a:ext cx="7796212" cy="1858106"/>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Import new components when they don’t exist in KiCAD’s default library</a:t>
          </a:r>
        </a:p>
      </dsp:txBody>
      <dsp:txXfrm>
        <a:off x="90705" y="180861"/>
        <a:ext cx="7614802" cy="1676696"/>
      </dsp:txXfrm>
    </dsp:sp>
    <dsp:sp modelId="{EAAAB01F-1B65-5940-91D4-605B4E67278C}">
      <dsp:nvSpPr>
        <dsp:cNvPr id="0" name=""/>
        <dsp:cNvSpPr/>
      </dsp:nvSpPr>
      <dsp:spPr>
        <a:xfrm>
          <a:off x="0" y="2049062"/>
          <a:ext cx="7796212" cy="1858106"/>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Most parts suppliers (Digikey, Mouser, etc.) provide free downloads of the required library files</a:t>
          </a:r>
        </a:p>
      </dsp:txBody>
      <dsp:txXfrm>
        <a:off x="90705" y="2139767"/>
        <a:ext cx="7614802" cy="1676696"/>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CF5C4F-BDC5-4C49-ABB6-E4C9956DFF65}" type="datetimeFigureOut">
              <a:rPr lang="en-US" smtClean="0"/>
              <a:t>11/15/25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D0DCF3-5838-4CD3-80DA-58C92116886F}" type="slidenum">
              <a:rPr lang="en-US" smtClean="0"/>
              <a:t>‹#›</a:t>
            </a:fld>
            <a:endParaRPr lang="en-US"/>
          </a:p>
        </p:txBody>
      </p:sp>
    </p:spTree>
    <p:extLst>
      <p:ext uri="{BB962C8B-B14F-4D97-AF65-F5344CB8AC3E}">
        <p14:creationId xmlns:p14="http://schemas.microsoft.com/office/powerpoint/2010/main" val="1393842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Please introduce yourself:</a:t>
            </a:r>
          </a:p>
          <a:p>
            <a:r>
              <a:rPr lang="en-US"/>
              <a:t>Name</a:t>
            </a:r>
          </a:p>
          <a:p>
            <a:r>
              <a:rPr lang="en-US"/>
              <a:t>Major</a:t>
            </a:r>
          </a:p>
          <a:p>
            <a:r>
              <a:rPr lang="en-US"/>
              <a:t>What you hope to take away from this workshop</a:t>
            </a:r>
          </a:p>
          <a:p>
            <a:endParaRPr lang="en-US"/>
          </a:p>
        </p:txBody>
      </p:sp>
      <p:sp>
        <p:nvSpPr>
          <p:cNvPr id="4" name="Slide Number Placeholder 3"/>
          <p:cNvSpPr>
            <a:spLocks noGrp="1"/>
          </p:cNvSpPr>
          <p:nvPr>
            <p:ph type="sldNum" sz="quarter" idx="5"/>
          </p:nvPr>
        </p:nvSpPr>
        <p:spPr/>
        <p:txBody>
          <a:bodyPr/>
          <a:lstStyle/>
          <a:p>
            <a:fld id="{D6D0DCF3-5838-4CD3-80DA-58C92116886F}" type="slidenum">
              <a:rPr lang="en-US" smtClean="0"/>
              <a:t>1</a:t>
            </a:fld>
            <a:endParaRPr lang="en-US"/>
          </a:p>
        </p:txBody>
      </p:sp>
    </p:spTree>
    <p:extLst>
      <p:ext uri="{BB962C8B-B14F-4D97-AF65-F5344CB8AC3E}">
        <p14:creationId xmlns:p14="http://schemas.microsoft.com/office/powerpoint/2010/main" val="2585493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6D0DCF3-5838-4CD3-80DA-58C92116886F}" type="slidenum">
              <a:rPr lang="en-US" smtClean="0"/>
              <a:t>2</a:t>
            </a:fld>
            <a:endParaRPr lang="en-US"/>
          </a:p>
        </p:txBody>
      </p:sp>
    </p:spTree>
    <p:extLst>
      <p:ext uri="{BB962C8B-B14F-4D97-AF65-F5344CB8AC3E}">
        <p14:creationId xmlns:p14="http://schemas.microsoft.com/office/powerpoint/2010/main" val="2824159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a:t>Creating a New Project</a:t>
            </a:r>
            <a:endParaRPr lang="en-US"/>
          </a:p>
          <a:p>
            <a:pPr>
              <a:buFont typeface="Arial" panose="020B0604020202020204" pitchFamily="34" charset="0"/>
              <a:buChar char="•"/>
            </a:pPr>
            <a:r>
              <a:rPr lang="en-US"/>
              <a:t>You start by creating a new project, which keeps all the necessary files organized.</a:t>
            </a:r>
          </a:p>
          <a:p>
            <a:pPr>
              <a:buNone/>
            </a:pPr>
            <a:r>
              <a:rPr lang="en-US" b="1"/>
              <a:t>Designing the Schematic</a:t>
            </a:r>
            <a:endParaRPr lang="en-US"/>
          </a:p>
          <a:p>
            <a:pPr>
              <a:buFont typeface="Arial" panose="020B0604020202020204" pitchFamily="34" charset="0"/>
              <a:buChar char="•"/>
            </a:pPr>
            <a:r>
              <a:rPr lang="en-US"/>
              <a:t>The schematic is a visual representation of your circuit, where you place components (resistors, capacitors, chips, etc.) and connect them with virtual wires.</a:t>
            </a:r>
          </a:p>
          <a:p>
            <a:pPr>
              <a:buFont typeface="Arial" panose="020B0604020202020204" pitchFamily="34" charset="0"/>
              <a:buChar char="•"/>
            </a:pPr>
            <a:r>
              <a:rPr lang="en-US"/>
              <a:t>This step focuses on functionality—making sure all components are correctly linked.</a:t>
            </a:r>
          </a:p>
          <a:p>
            <a:pPr>
              <a:buNone/>
            </a:pPr>
            <a:r>
              <a:rPr lang="en-US" b="1"/>
              <a:t>Assigning Physical Components (Footprints)</a:t>
            </a:r>
            <a:endParaRPr lang="en-US"/>
          </a:p>
          <a:p>
            <a:pPr>
              <a:buFont typeface="Arial" panose="020B0604020202020204" pitchFamily="34" charset="0"/>
              <a:buChar char="•"/>
            </a:pPr>
            <a:r>
              <a:rPr lang="en-US"/>
              <a:t>Every component in your schematic needs a corresponding physical version (footprint) that will be placed on the circuit board.</a:t>
            </a:r>
          </a:p>
          <a:p>
            <a:pPr>
              <a:buFont typeface="Arial" panose="020B0604020202020204" pitchFamily="34" charset="0"/>
              <a:buChar char="•"/>
            </a:pPr>
            <a:r>
              <a:rPr lang="en-US"/>
              <a:t>Footprints define where pins go and how big the component is on the board.</a:t>
            </a:r>
          </a:p>
          <a:p>
            <a:pPr>
              <a:buNone/>
            </a:pPr>
            <a:r>
              <a:rPr lang="en-US" b="1"/>
              <a:t>Laying Out the PCB</a:t>
            </a:r>
            <a:endParaRPr lang="en-US"/>
          </a:p>
          <a:p>
            <a:pPr>
              <a:buFont typeface="Arial" panose="020B0604020202020204" pitchFamily="34" charset="0"/>
              <a:buChar char="•"/>
            </a:pPr>
            <a:r>
              <a:rPr lang="en-US"/>
              <a:t>Once the schematic is complete, you transfer it to the PCB editor.</a:t>
            </a:r>
          </a:p>
          <a:p>
            <a:pPr>
              <a:buFont typeface="Arial" panose="020B0604020202020204" pitchFamily="34" charset="0"/>
              <a:buChar char="•"/>
            </a:pPr>
            <a:r>
              <a:rPr lang="en-US"/>
              <a:t>Here, you arrange the physical components on the board and connect them using copper traces, which replace the virtual wires from the schematic.</a:t>
            </a:r>
          </a:p>
          <a:p>
            <a:pPr>
              <a:buFont typeface="Arial" panose="020B0604020202020204" pitchFamily="34" charset="0"/>
              <a:buChar char="•"/>
            </a:pPr>
            <a:r>
              <a:rPr lang="en-US"/>
              <a:t>You also define the board’s shape and add features like mounting holes.</a:t>
            </a:r>
          </a:p>
          <a:p>
            <a:pPr>
              <a:buNone/>
            </a:pPr>
            <a:r>
              <a:rPr lang="en-US" b="1"/>
              <a:t>Checking for Errors</a:t>
            </a:r>
            <a:endParaRPr lang="en-US"/>
          </a:p>
          <a:p>
            <a:pPr>
              <a:buFont typeface="Arial" panose="020B0604020202020204" pitchFamily="34" charset="0"/>
              <a:buChar char="•"/>
            </a:pPr>
            <a:r>
              <a:rPr lang="en-US"/>
              <a:t>Before manufacturing, you run checks to catch any issues—like missing connections or components that overlap.</a:t>
            </a:r>
          </a:p>
          <a:p>
            <a:pPr>
              <a:buNone/>
            </a:pPr>
            <a:r>
              <a:rPr lang="en-US" b="1"/>
              <a:t>Exporting for Manufacturing</a:t>
            </a:r>
            <a:endParaRPr lang="en-US"/>
          </a:p>
          <a:p>
            <a:pPr>
              <a:buFont typeface="Arial" panose="020B0604020202020204" pitchFamily="34" charset="0"/>
              <a:buChar char="•"/>
            </a:pPr>
            <a:r>
              <a:rPr lang="en-US"/>
              <a:t>Once the board is finalized, you generate files (Gerber files) that a manufacturer can use to produce your circuit board.</a:t>
            </a:r>
          </a:p>
          <a:p>
            <a:endParaRPr lang="en-US"/>
          </a:p>
        </p:txBody>
      </p:sp>
      <p:sp>
        <p:nvSpPr>
          <p:cNvPr id="4" name="Slide Number Placeholder 3"/>
          <p:cNvSpPr>
            <a:spLocks noGrp="1"/>
          </p:cNvSpPr>
          <p:nvPr>
            <p:ph type="sldNum" sz="quarter" idx="5"/>
          </p:nvPr>
        </p:nvSpPr>
        <p:spPr/>
        <p:txBody>
          <a:bodyPr/>
          <a:lstStyle/>
          <a:p>
            <a:fld id="{D6D0DCF3-5838-4CD3-80DA-58C92116886F}" type="slidenum">
              <a:rPr lang="en-US" smtClean="0"/>
              <a:t>4</a:t>
            </a:fld>
            <a:endParaRPr lang="en-US"/>
          </a:p>
        </p:txBody>
      </p:sp>
    </p:spTree>
    <p:extLst>
      <p:ext uri="{BB962C8B-B14F-4D97-AF65-F5344CB8AC3E}">
        <p14:creationId xmlns:p14="http://schemas.microsoft.com/office/powerpoint/2010/main" val="1062739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err="1">
                <a:solidFill>
                  <a:srgbClr val="ECECEC"/>
                </a:solidFill>
                <a:effectLst/>
                <a:highlight>
                  <a:srgbClr val="212121"/>
                </a:highlight>
                <a:latin typeface="Söhne"/>
              </a:rPr>
              <a:t>Eeschema</a:t>
            </a:r>
            <a:r>
              <a:rPr lang="en-US" b="1" i="0">
                <a:solidFill>
                  <a:srgbClr val="ECECEC"/>
                </a:solidFill>
                <a:effectLst/>
                <a:highlight>
                  <a:srgbClr val="212121"/>
                </a:highlight>
                <a:latin typeface="Söhne"/>
              </a:rPr>
              <a:t>: Schematic Editing Tool</a:t>
            </a:r>
          </a:p>
          <a:p>
            <a:pPr algn="l">
              <a:buFont typeface="Arial" panose="020B0604020202020204" pitchFamily="34" charset="0"/>
              <a:buChar char="•"/>
            </a:pPr>
            <a:r>
              <a:rPr lang="en-US" b="1" i="0">
                <a:solidFill>
                  <a:srgbClr val="ECECEC"/>
                </a:solidFill>
                <a:effectLst/>
                <a:highlight>
                  <a:srgbClr val="212121"/>
                </a:highlight>
                <a:latin typeface="Söhne"/>
              </a:rPr>
              <a:t>Purpose:</a:t>
            </a:r>
            <a:r>
              <a:rPr lang="en-US" b="0" i="0">
                <a:solidFill>
                  <a:srgbClr val="ECECEC"/>
                </a:solidFill>
                <a:effectLst/>
                <a:highlight>
                  <a:srgbClr val="212121"/>
                </a:highlight>
                <a:latin typeface="Söhne"/>
              </a:rPr>
              <a:t> </a:t>
            </a:r>
            <a:r>
              <a:rPr lang="en-US" b="0" i="0" err="1">
                <a:solidFill>
                  <a:srgbClr val="ECECEC"/>
                </a:solidFill>
                <a:effectLst/>
                <a:highlight>
                  <a:srgbClr val="212121"/>
                </a:highlight>
                <a:latin typeface="Söhne"/>
              </a:rPr>
              <a:t>Eeschema</a:t>
            </a:r>
            <a:r>
              <a:rPr lang="en-US" b="0" i="0">
                <a:solidFill>
                  <a:srgbClr val="ECECEC"/>
                </a:solidFill>
                <a:effectLst/>
                <a:highlight>
                  <a:srgbClr val="212121"/>
                </a:highlight>
                <a:latin typeface="Söhne"/>
              </a:rPr>
              <a:t> is where the design process starts. Here, you create the electronic schematic by placing symbols that represent the various components in your circuit. These symbols are then interconnected with lines to illustrate the electrical connections between components. </a:t>
            </a:r>
            <a:r>
              <a:rPr lang="en-US" b="0" i="0" err="1">
                <a:solidFill>
                  <a:srgbClr val="ECECEC"/>
                </a:solidFill>
                <a:effectLst/>
                <a:highlight>
                  <a:srgbClr val="212121"/>
                </a:highlight>
                <a:latin typeface="Söhne"/>
              </a:rPr>
              <a:t>Eeschema</a:t>
            </a:r>
            <a:r>
              <a:rPr lang="en-US" b="0" i="0">
                <a:solidFill>
                  <a:srgbClr val="ECECEC"/>
                </a:solidFill>
                <a:effectLst/>
                <a:highlight>
                  <a:srgbClr val="212121"/>
                </a:highlight>
                <a:latin typeface="Söhne"/>
              </a:rPr>
              <a:t> allows for hierarchical design, making it easier to manage complex circuits by breaking them down into sub-circuits. It also checks for schematic errors, such as unconnected pins or conflicting connections.</a:t>
            </a:r>
          </a:p>
          <a:p>
            <a:pPr algn="l"/>
            <a:r>
              <a:rPr lang="en-US" b="1" i="0" err="1">
                <a:solidFill>
                  <a:srgbClr val="ECECEC"/>
                </a:solidFill>
                <a:effectLst/>
                <a:highlight>
                  <a:srgbClr val="212121"/>
                </a:highlight>
                <a:latin typeface="Söhne"/>
              </a:rPr>
              <a:t>Pcbnew</a:t>
            </a:r>
            <a:r>
              <a:rPr lang="en-US" b="1" i="0">
                <a:solidFill>
                  <a:srgbClr val="ECECEC"/>
                </a:solidFill>
                <a:effectLst/>
                <a:highlight>
                  <a:srgbClr val="212121"/>
                </a:highlight>
                <a:latin typeface="Söhne"/>
              </a:rPr>
              <a:t>: PCB Layout Editor</a:t>
            </a:r>
          </a:p>
          <a:p>
            <a:pPr algn="l">
              <a:buFont typeface="Arial" panose="020B0604020202020204" pitchFamily="34" charset="0"/>
              <a:buChar char="•"/>
            </a:pPr>
            <a:r>
              <a:rPr lang="en-US" b="1" i="0">
                <a:solidFill>
                  <a:srgbClr val="ECECEC"/>
                </a:solidFill>
                <a:effectLst/>
                <a:highlight>
                  <a:srgbClr val="212121"/>
                </a:highlight>
                <a:latin typeface="Söhne"/>
              </a:rPr>
              <a:t>Purpose:</a:t>
            </a:r>
            <a:r>
              <a:rPr lang="en-US" b="0" i="0">
                <a:solidFill>
                  <a:srgbClr val="ECECEC"/>
                </a:solidFill>
                <a:effectLst/>
                <a:highlight>
                  <a:srgbClr val="212121"/>
                </a:highlight>
                <a:latin typeface="Söhne"/>
              </a:rPr>
              <a:t> Once the schematic is complete, </a:t>
            </a:r>
            <a:r>
              <a:rPr lang="en-US" b="0" i="0" err="1">
                <a:solidFill>
                  <a:srgbClr val="ECECEC"/>
                </a:solidFill>
                <a:effectLst/>
                <a:highlight>
                  <a:srgbClr val="212121"/>
                </a:highlight>
                <a:latin typeface="Söhne"/>
              </a:rPr>
              <a:t>Pcbnew</a:t>
            </a:r>
            <a:r>
              <a:rPr lang="en-US" b="0" i="0">
                <a:solidFill>
                  <a:srgbClr val="ECECEC"/>
                </a:solidFill>
                <a:effectLst/>
                <a:highlight>
                  <a:srgbClr val="212121"/>
                </a:highlight>
                <a:latin typeface="Söhne"/>
              </a:rPr>
              <a:t> takes over for the layout phase. It translates the schematic into a physical board layout, where you place component footprints and route copper traces to make the electrical connections real. </a:t>
            </a:r>
            <a:r>
              <a:rPr lang="en-US" b="0" i="0" err="1">
                <a:solidFill>
                  <a:srgbClr val="ECECEC"/>
                </a:solidFill>
                <a:effectLst/>
                <a:highlight>
                  <a:srgbClr val="212121"/>
                </a:highlight>
                <a:latin typeface="Söhne"/>
              </a:rPr>
              <a:t>Pcbnew</a:t>
            </a:r>
            <a:r>
              <a:rPr lang="en-US" b="0" i="0">
                <a:solidFill>
                  <a:srgbClr val="ECECEC"/>
                </a:solidFill>
                <a:effectLst/>
                <a:highlight>
                  <a:srgbClr val="212121"/>
                </a:highlight>
                <a:latin typeface="Söhne"/>
              </a:rPr>
              <a:t> supports multi-layer PCBs, offering extensive control over trace width, spacing, and via placement, critical for ensuring good electrical performance and manufacturability. It also includes tools for automatic and manual routing, as well as for checking design rules (DRC) to ensure compliance with manufacturing capabilities.</a:t>
            </a:r>
          </a:p>
          <a:p>
            <a:pPr algn="l"/>
            <a:r>
              <a:rPr lang="en-US" b="1" i="0" err="1">
                <a:solidFill>
                  <a:srgbClr val="ECECEC"/>
                </a:solidFill>
                <a:effectLst/>
                <a:highlight>
                  <a:srgbClr val="212121"/>
                </a:highlight>
                <a:latin typeface="Söhne"/>
              </a:rPr>
              <a:t>Gerbview</a:t>
            </a:r>
            <a:r>
              <a:rPr lang="en-US" b="1" i="0">
                <a:solidFill>
                  <a:srgbClr val="ECECEC"/>
                </a:solidFill>
                <a:effectLst/>
                <a:highlight>
                  <a:srgbClr val="212121"/>
                </a:highlight>
                <a:latin typeface="Söhne"/>
              </a:rPr>
              <a:t>: Gerber File Viewer</a:t>
            </a:r>
          </a:p>
          <a:p>
            <a:pPr algn="l">
              <a:buFont typeface="Arial" panose="020B0604020202020204" pitchFamily="34" charset="0"/>
              <a:buChar char="•"/>
            </a:pPr>
            <a:r>
              <a:rPr lang="en-US" b="1" i="0">
                <a:solidFill>
                  <a:srgbClr val="ECECEC"/>
                </a:solidFill>
                <a:effectLst/>
                <a:highlight>
                  <a:srgbClr val="212121"/>
                </a:highlight>
                <a:latin typeface="Söhne"/>
              </a:rPr>
              <a:t>Purpose:</a:t>
            </a:r>
            <a:r>
              <a:rPr lang="en-US" b="0" i="0">
                <a:solidFill>
                  <a:srgbClr val="ECECEC"/>
                </a:solidFill>
                <a:effectLst/>
                <a:highlight>
                  <a:srgbClr val="212121"/>
                </a:highlight>
                <a:latin typeface="Söhne"/>
              </a:rPr>
              <a:t> </a:t>
            </a:r>
            <a:r>
              <a:rPr lang="en-US" b="0" i="0" err="1">
                <a:solidFill>
                  <a:srgbClr val="ECECEC"/>
                </a:solidFill>
                <a:effectLst/>
                <a:highlight>
                  <a:srgbClr val="212121"/>
                </a:highlight>
                <a:latin typeface="Söhne"/>
              </a:rPr>
              <a:t>Gerbview</a:t>
            </a:r>
            <a:r>
              <a:rPr lang="en-US" b="0" i="0">
                <a:solidFill>
                  <a:srgbClr val="ECECEC"/>
                </a:solidFill>
                <a:effectLst/>
                <a:highlight>
                  <a:srgbClr val="212121"/>
                </a:highlight>
                <a:latin typeface="Söhne"/>
              </a:rPr>
              <a:t> is used to inspect Gerber files, which are the standard format for PCB fabrication data. Once your PCB design is complete, you generate these files to send to a manufacturer. </a:t>
            </a:r>
            <a:r>
              <a:rPr lang="en-US" b="0" i="0" err="1">
                <a:solidFill>
                  <a:srgbClr val="ECECEC"/>
                </a:solidFill>
                <a:effectLst/>
                <a:highlight>
                  <a:srgbClr val="212121"/>
                </a:highlight>
                <a:latin typeface="Söhne"/>
              </a:rPr>
              <a:t>Gerbview</a:t>
            </a:r>
            <a:r>
              <a:rPr lang="en-US" b="0" i="0">
                <a:solidFill>
                  <a:srgbClr val="ECECEC"/>
                </a:solidFill>
                <a:effectLst/>
                <a:highlight>
                  <a:srgbClr val="212121"/>
                </a:highlight>
                <a:latin typeface="Söhne"/>
              </a:rPr>
              <a:t> allows you to review the layers of your board as they will appear to the manufacturer, helping you catch any potential issues before production. It supports viewing multiple layers simultaneously and can also be used to inspect drill files and board outlines.</a:t>
            </a:r>
          </a:p>
          <a:p>
            <a:pPr algn="l"/>
            <a:r>
              <a:rPr lang="en-US" b="1" i="0">
                <a:solidFill>
                  <a:srgbClr val="ECECEC"/>
                </a:solidFill>
                <a:effectLst/>
                <a:highlight>
                  <a:srgbClr val="212121"/>
                </a:highlight>
                <a:latin typeface="Söhne"/>
              </a:rPr>
              <a:t>Bitmap2Component: Creating Footprint from Bitmap Images</a:t>
            </a:r>
          </a:p>
          <a:p>
            <a:pPr algn="l">
              <a:buFont typeface="Arial" panose="020B0604020202020204" pitchFamily="34" charset="0"/>
              <a:buChar char="•"/>
            </a:pPr>
            <a:r>
              <a:rPr lang="en-US" b="1" i="0">
                <a:solidFill>
                  <a:srgbClr val="ECECEC"/>
                </a:solidFill>
                <a:effectLst/>
                <a:highlight>
                  <a:srgbClr val="212121"/>
                </a:highlight>
                <a:latin typeface="Söhne"/>
              </a:rPr>
              <a:t>Purpose:</a:t>
            </a:r>
            <a:r>
              <a:rPr lang="en-US" b="0" i="0">
                <a:solidFill>
                  <a:srgbClr val="ECECEC"/>
                </a:solidFill>
                <a:effectLst/>
                <a:highlight>
                  <a:srgbClr val="212121"/>
                </a:highlight>
                <a:latin typeface="Söhne"/>
              </a:rPr>
              <a:t> Bitmap2Component is a utility tool within </a:t>
            </a:r>
            <a:r>
              <a:rPr lang="en-US" b="0" i="0" err="1">
                <a:solidFill>
                  <a:srgbClr val="ECECEC"/>
                </a:solidFill>
                <a:effectLst/>
                <a:highlight>
                  <a:srgbClr val="212121"/>
                </a:highlight>
                <a:latin typeface="Söhne"/>
              </a:rPr>
              <a:t>KiCad</a:t>
            </a:r>
            <a:r>
              <a:rPr lang="en-US" b="0" i="0">
                <a:solidFill>
                  <a:srgbClr val="ECECEC"/>
                </a:solidFill>
                <a:effectLst/>
                <a:highlight>
                  <a:srgbClr val="212121"/>
                </a:highlight>
                <a:latin typeface="Söhne"/>
              </a:rPr>
              <a:t> that converts bitmap images into footprints or silkscreen artwork for your PCB. This tool is particularly useful for adding logos, complex graphics, or text in specific fonts to your PCB design, enhancing its appearance or branding.</a:t>
            </a:r>
          </a:p>
          <a:p>
            <a:pPr algn="l"/>
            <a:r>
              <a:rPr lang="en-US" b="1" i="0">
                <a:solidFill>
                  <a:srgbClr val="ECECEC"/>
                </a:solidFill>
                <a:effectLst/>
                <a:highlight>
                  <a:srgbClr val="212121"/>
                </a:highlight>
                <a:latin typeface="Söhne"/>
              </a:rPr>
              <a:t>PCB Calculator: Utility for Common PCB Parameters</a:t>
            </a:r>
          </a:p>
          <a:p>
            <a:pPr algn="l">
              <a:buFont typeface="Arial" panose="020B0604020202020204" pitchFamily="34" charset="0"/>
              <a:buChar char="•"/>
            </a:pPr>
            <a:r>
              <a:rPr lang="en-US" b="1" i="0">
                <a:solidFill>
                  <a:srgbClr val="ECECEC"/>
                </a:solidFill>
                <a:effectLst/>
                <a:highlight>
                  <a:srgbClr val="212121"/>
                </a:highlight>
                <a:latin typeface="Söhne"/>
              </a:rPr>
              <a:t>Purpose:</a:t>
            </a:r>
            <a:r>
              <a:rPr lang="en-US" b="0" i="0">
                <a:solidFill>
                  <a:srgbClr val="ECECEC"/>
                </a:solidFill>
                <a:effectLst/>
                <a:highlight>
                  <a:srgbClr val="212121"/>
                </a:highlight>
                <a:latin typeface="Söhne"/>
              </a:rPr>
              <a:t> The PCB Calculator offers a suite of tools for calculating important PCB design parameters. These include track width for current capacity, differential pair spacing for impedance control, and via dimensions for layer transitions. It's a valuable resource for ensuring your design meets the necessary electrical and thermal performance requirements.</a:t>
            </a:r>
          </a:p>
          <a:p>
            <a:pPr algn="l"/>
            <a:r>
              <a:rPr lang="en-US" b="1" i="0">
                <a:solidFill>
                  <a:srgbClr val="ECECEC"/>
                </a:solidFill>
                <a:effectLst/>
                <a:highlight>
                  <a:srgbClr val="212121"/>
                </a:highlight>
                <a:latin typeface="Söhne"/>
              </a:rPr>
              <a:t>Footprint Editor: Custom Footprint Creation</a:t>
            </a:r>
          </a:p>
          <a:p>
            <a:pPr algn="l">
              <a:buFont typeface="Arial" panose="020B0604020202020204" pitchFamily="34" charset="0"/>
              <a:buChar char="•"/>
            </a:pPr>
            <a:r>
              <a:rPr lang="en-US" b="1" i="0">
                <a:solidFill>
                  <a:srgbClr val="ECECEC"/>
                </a:solidFill>
                <a:effectLst/>
                <a:highlight>
                  <a:srgbClr val="212121"/>
                </a:highlight>
                <a:latin typeface="Söhne"/>
              </a:rPr>
              <a:t>Purpose:</a:t>
            </a:r>
            <a:r>
              <a:rPr lang="en-US" b="0" i="0">
                <a:solidFill>
                  <a:srgbClr val="ECECEC"/>
                </a:solidFill>
                <a:effectLst/>
                <a:highlight>
                  <a:srgbClr val="212121"/>
                </a:highlight>
                <a:latin typeface="Söhne"/>
              </a:rPr>
              <a:t> While </a:t>
            </a:r>
            <a:r>
              <a:rPr lang="en-US" b="0" i="0" err="1">
                <a:solidFill>
                  <a:srgbClr val="ECECEC"/>
                </a:solidFill>
                <a:effectLst/>
                <a:highlight>
                  <a:srgbClr val="212121"/>
                </a:highlight>
                <a:latin typeface="Söhne"/>
              </a:rPr>
              <a:t>KiCad</a:t>
            </a:r>
            <a:r>
              <a:rPr lang="en-US" b="0" i="0">
                <a:solidFill>
                  <a:srgbClr val="ECECEC"/>
                </a:solidFill>
                <a:effectLst/>
                <a:highlight>
                  <a:srgbClr val="212121"/>
                </a:highlight>
                <a:latin typeface="Söhne"/>
              </a:rPr>
              <a:t> includes a vast library of component footprints, sometimes you'll need a footprint that's not available or requires customization. The Footprint Editor allows you to create or modify footprints to meet your specific needs. This is essential for accommodating unusual components or for optimizing footprint designs for better manufacturability or performance.</a:t>
            </a:r>
          </a:p>
          <a:p>
            <a:pPr algn="l"/>
            <a:r>
              <a:rPr lang="en-US" b="0" i="0">
                <a:solidFill>
                  <a:srgbClr val="ECECEC"/>
                </a:solidFill>
                <a:effectLst/>
                <a:highlight>
                  <a:srgbClr val="212121"/>
                </a:highlight>
                <a:latin typeface="Söhne"/>
              </a:rPr>
              <a:t>These tools work together seamlessly within </a:t>
            </a:r>
            <a:r>
              <a:rPr lang="en-US" b="0" i="0" err="1">
                <a:solidFill>
                  <a:srgbClr val="ECECEC"/>
                </a:solidFill>
                <a:effectLst/>
                <a:highlight>
                  <a:srgbClr val="212121"/>
                </a:highlight>
                <a:latin typeface="Söhne"/>
              </a:rPr>
              <a:t>KiCad</a:t>
            </a:r>
            <a:r>
              <a:rPr lang="en-US" b="0" i="0">
                <a:solidFill>
                  <a:srgbClr val="ECECEC"/>
                </a:solidFill>
                <a:effectLst/>
                <a:highlight>
                  <a:srgbClr val="212121"/>
                </a:highlight>
                <a:latin typeface="Söhne"/>
              </a:rPr>
              <a:t>, offering a complete suite for designing PCBs from concept to production. Understanding the purpose and capabilities of each tool is crucial for efficiently navigating the PCB design process.</a:t>
            </a:r>
          </a:p>
          <a:p>
            <a:endParaRPr lang="en-US"/>
          </a:p>
        </p:txBody>
      </p:sp>
      <p:sp>
        <p:nvSpPr>
          <p:cNvPr id="4" name="Slide Number Placeholder 3"/>
          <p:cNvSpPr>
            <a:spLocks noGrp="1"/>
          </p:cNvSpPr>
          <p:nvPr>
            <p:ph type="sldNum" sz="quarter" idx="5"/>
          </p:nvPr>
        </p:nvSpPr>
        <p:spPr/>
        <p:txBody>
          <a:bodyPr/>
          <a:lstStyle/>
          <a:p>
            <a:fld id="{4E118C7A-21AB-734D-A8C0-8120B44369E4}" type="slidenum">
              <a:rPr lang="en-US" smtClean="0"/>
              <a:t>5</a:t>
            </a:fld>
            <a:endParaRPr lang="en-US"/>
          </a:p>
        </p:txBody>
      </p:sp>
    </p:spTree>
    <p:extLst>
      <p:ext uri="{BB962C8B-B14F-4D97-AF65-F5344CB8AC3E}">
        <p14:creationId xmlns:p14="http://schemas.microsoft.com/office/powerpoint/2010/main" val="27036593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6D0DCF3-5838-4CD3-80DA-58C92116886F}" type="slidenum">
              <a:rPr lang="en-US" smtClean="0"/>
              <a:t>6</a:t>
            </a:fld>
            <a:endParaRPr lang="en-US"/>
          </a:p>
        </p:txBody>
      </p:sp>
    </p:spTree>
    <p:extLst>
      <p:ext uri="{BB962C8B-B14F-4D97-AF65-F5344CB8AC3E}">
        <p14:creationId xmlns:p14="http://schemas.microsoft.com/office/powerpoint/2010/main" val="35998714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smtClean="0"/>
              <a:t>11/15/25</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rIns="45720"/>
          <a:lstStyle/>
          <a:p>
            <a:fld id="{6D22F896-40B5-4ADD-8801-0D06FADFA095}" type="slidenum">
              <a:rPr lang="en-US" smtClean="0"/>
              <a:t>‹#›</a:t>
            </a:fld>
            <a:endParaRPr lang="en-US"/>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719584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smtClean="0"/>
              <a:t>11/15/25</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472217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059C3-6A89-4494-99FF-5A4D6FFD50EB}" type="datetimeFigureOut">
              <a:rPr lang="en-US" smtClean="0"/>
              <a:t>11/15/25</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761446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smtClean="0"/>
              <a:t>11/15/25</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926083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smtClean="0"/>
              <a:t>11/15/25</a:t>
            </a:fld>
            <a:endParaRPr lang="en-US"/>
          </a:p>
        </p:txBody>
      </p:sp>
      <p:sp>
        <p:nvSpPr>
          <p:cNvPr id="8" name="Footer Placeholder 7"/>
          <p:cNvSpPr>
            <a:spLocks noGrp="1"/>
          </p:cNvSpPr>
          <p:nvPr>
            <p:ph type="ftr" sz="quarter" idx="11"/>
          </p:nvPr>
        </p:nvSpPr>
        <p:spPr/>
        <p:txBody>
          <a:bodyPr/>
          <a:lstStyle/>
          <a:p>
            <a:r>
              <a:rPr lang="en-US"/>
              <a:t>
              </a:t>
            </a:r>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523174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smtClean="0"/>
              <a:t>11/15/25</a:t>
            </a:fld>
            <a:endParaRPr lang="en-US"/>
          </a:p>
        </p:txBody>
      </p:sp>
      <p:sp>
        <p:nvSpPr>
          <p:cNvPr id="4" name="Footer Placeholder 3"/>
          <p:cNvSpPr>
            <a:spLocks noGrp="1"/>
          </p:cNvSpPr>
          <p:nvPr>
            <p:ph type="ftr" sz="quarter" idx="11"/>
          </p:nvPr>
        </p:nvSpPr>
        <p:spPr/>
        <p:txBody>
          <a:bodyPr/>
          <a:lstStyle/>
          <a:p>
            <a:r>
              <a:rPr lang="en-US"/>
              <a:t>
              </a:t>
            </a:r>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514494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smtClean="0"/>
              <a:t>11/15/25</a:t>
            </a:fld>
            <a:endParaRPr lang="en-US"/>
          </a:p>
        </p:txBody>
      </p:sp>
      <p:sp>
        <p:nvSpPr>
          <p:cNvPr id="3" name="Footer Placeholder 2"/>
          <p:cNvSpPr>
            <a:spLocks noGrp="1"/>
          </p:cNvSpPr>
          <p:nvPr>
            <p:ph type="ftr" sz="quarter" idx="11"/>
          </p:nvPr>
        </p:nvSpPr>
        <p:spPr/>
        <p:txBody>
          <a:bodyPr/>
          <a:lstStyle/>
          <a:p>
            <a:r>
              <a:rPr lang="en-US"/>
              <a:t>
              </a:t>
            </a:r>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470060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D525BB-DA17-4BA0-B3C8-3AC3ABC827E6}" type="datetimeFigureOut">
              <a:rPr lang="en-US" smtClean="0"/>
              <a:t>11/15/25</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655750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16C4C9A-3960-41CF-A4E9-2A8FB932454B}" type="datetimeFigureOut">
              <a:rPr lang="en-US" smtClean="0"/>
              <a:t>11/15/25</a:t>
            </a:fld>
            <a:endParaRPr lang="en-US"/>
          </a:p>
        </p:txBody>
      </p:sp>
      <p:sp>
        <p:nvSpPr>
          <p:cNvPr id="6" name="Footer Placeholder 5"/>
          <p:cNvSpPr>
            <a:spLocks noGrp="1"/>
          </p:cNvSpPr>
          <p:nvPr>
            <p:ph type="ftr" sz="quarter" idx="11"/>
          </p:nvPr>
        </p:nvSpPr>
        <p:spPr/>
        <p:txBody>
          <a:bodyPr/>
          <a:lstStyle/>
          <a:p>
            <a:r>
              <a:rPr lang="en-US"/>
              <a:t>
              </a:t>
            </a:r>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696947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smtClean="0"/>
              <a:t>11/15/25</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859604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smtClean="0"/>
              <a:t>11/15/25</a:t>
            </a:fld>
            <a:endParaRPr lang="en-US"/>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994485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effectLst/>
      </p:bgPr>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smtClean="0"/>
              <a:t>11/15/25</a:t>
            </a:fld>
            <a:endParaRPr lang="en-US"/>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smtClean="0"/>
              <a:pPr/>
              <a:t>‹#›</a:t>
            </a:fld>
            <a:endParaRPr lang="en-US"/>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43283798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kicad.org/download/"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digikey.com/en/products/detail/analog-devices-inc-maxim-integrated/ICM7217IPI/1302610"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0B1F390-3118-9ACA-DF18-8BFC92DC0CAA}"/>
              </a:ext>
            </a:extLst>
          </p:cNvPr>
          <p:cNvPicPr>
            <a:picLocks noChangeAspect="1"/>
          </p:cNvPicPr>
          <p:nvPr/>
        </p:nvPicPr>
        <p:blipFill>
          <a:blip r:embed="rId3"/>
          <a:srcRect t="21713" r="9091" b="21624"/>
          <a:stretch/>
        </p:blipFill>
        <p:spPr>
          <a:xfrm>
            <a:off x="20" y="227"/>
            <a:ext cx="12191675" cy="6858000"/>
          </a:xfrm>
          <a:prstGeom prst="rect">
            <a:avLst/>
          </a:prstGeom>
        </p:spPr>
      </p:pic>
      <p:sp>
        <p:nvSpPr>
          <p:cNvPr id="2" name="Title 1">
            <a:extLst>
              <a:ext uri="{FF2B5EF4-FFF2-40B4-BE49-F238E27FC236}">
                <a16:creationId xmlns:a16="http://schemas.microsoft.com/office/drawing/2014/main" id="{30CC767D-1CDA-7DC7-1E1B-1361ED35E8D0}"/>
              </a:ext>
            </a:extLst>
          </p:cNvPr>
          <p:cNvSpPr>
            <a:spLocks noGrp="1"/>
          </p:cNvSpPr>
          <p:nvPr>
            <p:ph type="ctrTitle"/>
          </p:nvPr>
        </p:nvSpPr>
        <p:spPr>
          <a:xfrm>
            <a:off x="1964040" y="3428998"/>
            <a:ext cx="4128142" cy="2268559"/>
          </a:xfrm>
        </p:spPr>
        <p:txBody>
          <a:bodyPr>
            <a:normAutofit/>
          </a:bodyPr>
          <a:lstStyle/>
          <a:p>
            <a:r>
              <a:rPr lang="en-US" sz="5100"/>
              <a:t>IEEE </a:t>
            </a:r>
            <a:r>
              <a:rPr lang="en-US" sz="5100" err="1"/>
              <a:t>KiCAD</a:t>
            </a:r>
            <a:r>
              <a:rPr lang="en-US" sz="5100"/>
              <a:t> Workshop </a:t>
            </a:r>
          </a:p>
        </p:txBody>
      </p:sp>
      <p:sp>
        <p:nvSpPr>
          <p:cNvPr id="3" name="Subtitle 2">
            <a:extLst>
              <a:ext uri="{FF2B5EF4-FFF2-40B4-BE49-F238E27FC236}">
                <a16:creationId xmlns:a16="http://schemas.microsoft.com/office/drawing/2014/main" id="{22B0D7BE-14A0-71DF-032A-CD7FC3D72327}"/>
              </a:ext>
            </a:extLst>
          </p:cNvPr>
          <p:cNvSpPr>
            <a:spLocks noGrp="1"/>
          </p:cNvSpPr>
          <p:nvPr>
            <p:ph type="subTitle" idx="1"/>
          </p:nvPr>
        </p:nvSpPr>
        <p:spPr>
          <a:xfrm>
            <a:off x="2124907" y="2268786"/>
            <a:ext cx="3967275" cy="1160213"/>
          </a:xfrm>
        </p:spPr>
        <p:txBody>
          <a:bodyPr/>
          <a:lstStyle/>
          <a:p>
            <a:r>
              <a:rPr lang="en-US"/>
              <a:t>Learn how to design your own PCBs!</a:t>
            </a:r>
          </a:p>
        </p:txBody>
      </p:sp>
    </p:spTree>
    <p:extLst>
      <p:ext uri="{BB962C8B-B14F-4D97-AF65-F5344CB8AC3E}">
        <p14:creationId xmlns:p14="http://schemas.microsoft.com/office/powerpoint/2010/main" val="37052848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4E2A7-19BC-C9AD-BF89-3CD52D8A549D}"/>
              </a:ext>
            </a:extLst>
          </p:cNvPr>
          <p:cNvSpPr>
            <a:spLocks noGrp="1"/>
          </p:cNvSpPr>
          <p:nvPr>
            <p:ph type="title"/>
          </p:nvPr>
        </p:nvSpPr>
        <p:spPr/>
        <p:txBody>
          <a:bodyPr/>
          <a:lstStyle/>
          <a:p>
            <a:r>
              <a:rPr lang="en-US"/>
              <a:t>What is </a:t>
            </a:r>
            <a:r>
              <a:rPr lang="en-US" err="1"/>
              <a:t>KiCAD</a:t>
            </a:r>
            <a:r>
              <a:rPr lang="en-US"/>
              <a:t>?</a:t>
            </a:r>
          </a:p>
        </p:txBody>
      </p:sp>
      <p:sp>
        <p:nvSpPr>
          <p:cNvPr id="3" name="Content Placeholder 2">
            <a:extLst>
              <a:ext uri="{FF2B5EF4-FFF2-40B4-BE49-F238E27FC236}">
                <a16:creationId xmlns:a16="http://schemas.microsoft.com/office/drawing/2014/main" id="{6E922DF4-396B-9CC0-56F4-401EE52E9275}"/>
              </a:ext>
            </a:extLst>
          </p:cNvPr>
          <p:cNvSpPr>
            <a:spLocks noGrp="1"/>
          </p:cNvSpPr>
          <p:nvPr>
            <p:ph idx="1"/>
          </p:nvPr>
        </p:nvSpPr>
        <p:spPr/>
        <p:txBody>
          <a:bodyPr/>
          <a:lstStyle/>
          <a:p>
            <a:r>
              <a:rPr lang="en-US" err="1"/>
              <a:t>KiCAD</a:t>
            </a:r>
            <a:r>
              <a:rPr lang="en-US"/>
              <a:t> is a suite of tools to help you design circuits and printed circuit boards (PCBs)</a:t>
            </a:r>
          </a:p>
          <a:p>
            <a:r>
              <a:rPr lang="en-US"/>
              <a:t>Open source and with a large hobbyist userbase</a:t>
            </a:r>
          </a:p>
          <a:p>
            <a:r>
              <a:rPr lang="en-US"/>
              <a:t>Creating schematics, PCBs, and Gerber files</a:t>
            </a:r>
          </a:p>
        </p:txBody>
      </p:sp>
    </p:spTree>
    <p:extLst>
      <p:ext uri="{BB962C8B-B14F-4D97-AF65-F5344CB8AC3E}">
        <p14:creationId xmlns:p14="http://schemas.microsoft.com/office/powerpoint/2010/main" val="1427951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FADC2-51E8-E932-CBFE-44637BB879CA}"/>
              </a:ext>
            </a:extLst>
          </p:cNvPr>
          <p:cNvSpPr>
            <a:spLocks noGrp="1"/>
          </p:cNvSpPr>
          <p:nvPr>
            <p:ph type="title"/>
          </p:nvPr>
        </p:nvSpPr>
        <p:spPr/>
        <p:txBody>
          <a:bodyPr/>
          <a:lstStyle/>
          <a:p>
            <a:r>
              <a:rPr lang="en-US"/>
              <a:t>Getting Started</a:t>
            </a:r>
          </a:p>
        </p:txBody>
      </p:sp>
      <p:sp>
        <p:nvSpPr>
          <p:cNvPr id="3" name="Content Placeholder 2">
            <a:extLst>
              <a:ext uri="{FF2B5EF4-FFF2-40B4-BE49-F238E27FC236}">
                <a16:creationId xmlns:a16="http://schemas.microsoft.com/office/drawing/2014/main" id="{E3337BE2-B16E-23C6-7167-B221F082C6B9}"/>
              </a:ext>
            </a:extLst>
          </p:cNvPr>
          <p:cNvSpPr>
            <a:spLocks noGrp="1"/>
          </p:cNvSpPr>
          <p:nvPr>
            <p:ph idx="1"/>
          </p:nvPr>
        </p:nvSpPr>
        <p:spPr/>
        <p:txBody>
          <a:bodyPr/>
          <a:lstStyle/>
          <a:p>
            <a:r>
              <a:rPr lang="en-US"/>
              <a:t>To get started, visit </a:t>
            </a:r>
            <a:r>
              <a:rPr lang="en-US">
                <a:hlinkClick r:id="rId2"/>
              </a:rPr>
              <a:t>https://www.kicad.org/download/</a:t>
            </a:r>
            <a:r>
              <a:rPr lang="en-US"/>
              <a:t> and select your platform</a:t>
            </a:r>
          </a:p>
          <a:p>
            <a:r>
              <a:rPr lang="en-US"/>
              <a:t>If you don’t have a computer, just follow along with me for the live demonstration</a:t>
            </a:r>
          </a:p>
        </p:txBody>
      </p:sp>
    </p:spTree>
    <p:extLst>
      <p:ext uri="{BB962C8B-B14F-4D97-AF65-F5344CB8AC3E}">
        <p14:creationId xmlns:p14="http://schemas.microsoft.com/office/powerpoint/2010/main" val="2827706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DA8B7-2B4E-A6CF-AB1D-F0607D920599}"/>
              </a:ext>
            </a:extLst>
          </p:cNvPr>
          <p:cNvSpPr>
            <a:spLocks noGrp="1"/>
          </p:cNvSpPr>
          <p:nvPr>
            <p:ph type="title"/>
          </p:nvPr>
        </p:nvSpPr>
        <p:spPr>
          <a:xfrm>
            <a:off x="1808936" y="2811270"/>
            <a:ext cx="3473753" cy="1770045"/>
          </a:xfrm>
        </p:spPr>
        <p:txBody>
          <a:bodyPr/>
          <a:lstStyle/>
          <a:p>
            <a:pPr algn="l"/>
            <a:r>
              <a:rPr lang="en-US"/>
              <a:t>General Workflow</a:t>
            </a:r>
          </a:p>
        </p:txBody>
      </p:sp>
      <p:graphicFrame>
        <p:nvGraphicFramePr>
          <p:cNvPr id="5" name="Content Placeholder 2">
            <a:extLst>
              <a:ext uri="{FF2B5EF4-FFF2-40B4-BE49-F238E27FC236}">
                <a16:creationId xmlns:a16="http://schemas.microsoft.com/office/drawing/2014/main" id="{9A32B876-75BF-569F-6274-DC84EE26C891}"/>
              </a:ext>
            </a:extLst>
          </p:cNvPr>
          <p:cNvGraphicFramePr>
            <a:graphicFrameLocks noGrp="1"/>
          </p:cNvGraphicFramePr>
          <p:nvPr>
            <p:ph idx="1"/>
            <p:extLst>
              <p:ext uri="{D42A27DB-BD31-4B8C-83A1-F6EECF244321}">
                <p14:modId xmlns:p14="http://schemas.microsoft.com/office/powerpoint/2010/main" val="4256749501"/>
              </p:ext>
            </p:extLst>
          </p:nvPr>
        </p:nvGraphicFramePr>
        <p:xfrm>
          <a:off x="6280264" y="550974"/>
          <a:ext cx="5295778" cy="57275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01534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stretch/>
        </a:blip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2C8380C-518C-4F62-AB1B-B2D94FB69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CPU with binary numbers and blueprint">
            <a:extLst>
              <a:ext uri="{FF2B5EF4-FFF2-40B4-BE49-F238E27FC236}">
                <a16:creationId xmlns:a16="http://schemas.microsoft.com/office/drawing/2014/main" id="{1DCE3E89-FD3D-3057-AE76-6B0558945935}"/>
              </a:ext>
            </a:extLst>
          </p:cNvPr>
          <p:cNvPicPr>
            <a:picLocks noChangeAspect="1"/>
          </p:cNvPicPr>
          <p:nvPr/>
        </p:nvPicPr>
        <p:blipFill rotWithShape="1">
          <a:blip r:embed="rId4"/>
          <a:srcRect t="9091" r="9093"/>
          <a:stretch>
            <a:fillRect/>
          </a:stretch>
        </p:blipFill>
        <p:spPr>
          <a:xfrm>
            <a:off x="20" y="227"/>
            <a:ext cx="12191675" cy="6858000"/>
          </a:xfrm>
          <a:prstGeom prst="rect">
            <a:avLst/>
          </a:prstGeom>
        </p:spPr>
      </p:pic>
      <p:pic>
        <p:nvPicPr>
          <p:cNvPr id="9" name="Picture 8">
            <a:extLst>
              <a:ext uri="{FF2B5EF4-FFF2-40B4-BE49-F238E27FC236}">
                <a16:creationId xmlns:a16="http://schemas.microsoft.com/office/drawing/2014/main" id="{2C5ABA5C-8D03-470C-AD42-6705B83958E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0" name="Picture 9">
            <a:extLst>
              <a:ext uri="{FF2B5EF4-FFF2-40B4-BE49-F238E27FC236}">
                <a16:creationId xmlns:a16="http://schemas.microsoft.com/office/drawing/2014/main" id="{71537C21-D1C1-482A-BA54-CFF2EC4E3D7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6">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2" name="Rectangle 11">
            <a:extLst>
              <a:ext uri="{FF2B5EF4-FFF2-40B4-BE49-F238E27FC236}">
                <a16:creationId xmlns:a16="http://schemas.microsoft.com/office/drawing/2014/main" id="{E65DF83B-6056-4738-A030-E52BF984C4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B09E30A-434C-4DBD-9C38-A1E96504B6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EBCEA9B-AF1B-4A5E-A9F8-92C99EB1A4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5" y="0"/>
            <a:ext cx="4431479"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45607F-F526-5EC4-3BCF-BC85876C44B4}"/>
              </a:ext>
            </a:extLst>
          </p:cNvPr>
          <p:cNvSpPr>
            <a:spLocks noGrp="1"/>
          </p:cNvSpPr>
          <p:nvPr>
            <p:ph type="title"/>
          </p:nvPr>
        </p:nvSpPr>
        <p:spPr>
          <a:xfrm>
            <a:off x="1974738" y="808056"/>
            <a:ext cx="2659944" cy="1225532"/>
          </a:xfrm>
        </p:spPr>
        <p:txBody>
          <a:bodyPr>
            <a:normAutofit/>
          </a:bodyPr>
          <a:lstStyle/>
          <a:p>
            <a:pPr algn="l"/>
            <a:r>
              <a:rPr lang="en-US" sz="2600"/>
              <a:t>KiCad Main Interface Overview</a:t>
            </a:r>
          </a:p>
        </p:txBody>
      </p:sp>
      <p:sp>
        <p:nvSpPr>
          <p:cNvPr id="3" name="Content Placeholder 2">
            <a:extLst>
              <a:ext uri="{FF2B5EF4-FFF2-40B4-BE49-F238E27FC236}">
                <a16:creationId xmlns:a16="http://schemas.microsoft.com/office/drawing/2014/main" id="{B801A385-BBF1-9B56-C6BA-C2448729007D}"/>
              </a:ext>
            </a:extLst>
          </p:cNvPr>
          <p:cNvSpPr>
            <a:spLocks noGrp="1"/>
          </p:cNvSpPr>
          <p:nvPr>
            <p:ph idx="1"/>
          </p:nvPr>
        </p:nvSpPr>
        <p:spPr>
          <a:xfrm>
            <a:off x="1966281" y="2171700"/>
            <a:ext cx="2668401" cy="3878243"/>
          </a:xfrm>
        </p:spPr>
        <p:txBody>
          <a:bodyPr>
            <a:normAutofit/>
          </a:bodyPr>
          <a:lstStyle/>
          <a:p>
            <a:r>
              <a:rPr lang="en-US" sz="1600" b="1"/>
              <a:t>Eschema</a:t>
            </a:r>
            <a:r>
              <a:rPr lang="en-US" sz="1600"/>
              <a:t> for schematic design</a:t>
            </a:r>
          </a:p>
          <a:p>
            <a:r>
              <a:rPr lang="en-US" sz="1600" b="1"/>
              <a:t>Pcbnew</a:t>
            </a:r>
            <a:r>
              <a:rPr lang="en-US" sz="1600"/>
              <a:t> for PCB layout</a:t>
            </a:r>
          </a:p>
          <a:p>
            <a:r>
              <a:rPr lang="en-US" sz="1600" b="1"/>
              <a:t>Gerbview</a:t>
            </a:r>
            <a:r>
              <a:rPr lang="en-US" sz="1600"/>
              <a:t> for viewing Gerber files</a:t>
            </a:r>
          </a:p>
          <a:p>
            <a:r>
              <a:rPr lang="en-US" sz="1600" b="1"/>
              <a:t>Additional tools: </a:t>
            </a:r>
            <a:r>
              <a:rPr lang="en-US" sz="1600"/>
              <a:t>Bitmap2Component, PCB Calculator, Footprint Editor</a:t>
            </a:r>
          </a:p>
        </p:txBody>
      </p:sp>
      <p:sp>
        <p:nvSpPr>
          <p:cNvPr id="18" name="Rectangle 17">
            <a:extLst>
              <a:ext uri="{FF2B5EF4-FFF2-40B4-BE49-F238E27FC236}">
                <a16:creationId xmlns:a16="http://schemas.microsoft.com/office/drawing/2014/main" id="{14E970E0-FAFF-4856-82E3-3EE8756250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3755"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3145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3C8F2-096F-4091-2BBC-019A2C623760}"/>
              </a:ext>
            </a:extLst>
          </p:cNvPr>
          <p:cNvSpPr>
            <a:spLocks noGrp="1"/>
          </p:cNvSpPr>
          <p:nvPr>
            <p:ph type="title"/>
          </p:nvPr>
        </p:nvSpPr>
        <p:spPr>
          <a:noFill/>
        </p:spPr>
        <p:txBody>
          <a:bodyPr/>
          <a:lstStyle/>
          <a:p>
            <a:r>
              <a:rPr lang="en-US" dirty="0"/>
              <a:t>Digital Counter Circuit</a:t>
            </a:r>
          </a:p>
        </p:txBody>
      </p:sp>
      <p:pic>
        <p:nvPicPr>
          <p:cNvPr id="6" name="Content Placeholder 5">
            <a:extLst>
              <a:ext uri="{FF2B5EF4-FFF2-40B4-BE49-F238E27FC236}">
                <a16:creationId xmlns:a16="http://schemas.microsoft.com/office/drawing/2014/main" id="{FC29CD8A-C75A-24A8-92EB-1CA351D5287A}"/>
              </a:ext>
            </a:extLst>
          </p:cNvPr>
          <p:cNvPicPr>
            <a:picLocks noGrp="1" noChangeAspect="1"/>
          </p:cNvPicPr>
          <p:nvPr>
            <p:ph idx="1"/>
          </p:nvPr>
        </p:nvPicPr>
        <p:blipFill>
          <a:blip r:embed="rId3"/>
          <a:stretch>
            <a:fillRect/>
          </a:stretch>
        </p:blipFill>
        <p:spPr>
          <a:xfrm>
            <a:off x="1621861" y="1594884"/>
            <a:ext cx="9025373" cy="5039832"/>
          </a:xfrm>
          <a:prstGeom prst="rect">
            <a:avLst/>
          </a:prstGeom>
        </p:spPr>
      </p:pic>
    </p:spTree>
    <p:extLst>
      <p:ext uri="{BB962C8B-B14F-4D97-AF65-F5344CB8AC3E}">
        <p14:creationId xmlns:p14="http://schemas.microsoft.com/office/powerpoint/2010/main" val="15736353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ECED1-CA4F-C39E-B2F7-65A0F5089AAD}"/>
              </a:ext>
            </a:extLst>
          </p:cNvPr>
          <p:cNvSpPr>
            <a:spLocks noGrp="1"/>
          </p:cNvSpPr>
          <p:nvPr>
            <p:ph type="title"/>
          </p:nvPr>
        </p:nvSpPr>
        <p:spPr/>
        <p:txBody>
          <a:bodyPr/>
          <a:lstStyle/>
          <a:p>
            <a:r>
              <a:rPr lang="en-US" dirty="0"/>
              <a:t>Importing Components in </a:t>
            </a:r>
            <a:r>
              <a:rPr lang="en-US" dirty="0" err="1"/>
              <a:t>KiCAD</a:t>
            </a:r>
            <a:r>
              <a:rPr lang="en-US" dirty="0"/>
              <a:t> </a:t>
            </a:r>
          </a:p>
        </p:txBody>
      </p:sp>
      <p:graphicFrame>
        <p:nvGraphicFramePr>
          <p:cNvPr id="5" name="Content Placeholder 2">
            <a:extLst>
              <a:ext uri="{FF2B5EF4-FFF2-40B4-BE49-F238E27FC236}">
                <a16:creationId xmlns:a16="http://schemas.microsoft.com/office/drawing/2014/main" id="{12EE9D86-FF3F-1D1F-8E89-6D8E2ED03661}"/>
              </a:ext>
            </a:extLst>
          </p:cNvPr>
          <p:cNvGraphicFramePr>
            <a:graphicFrameLocks noGrp="1"/>
          </p:cNvGraphicFramePr>
          <p:nvPr>
            <p:ph idx="1"/>
          </p:nvPr>
        </p:nvGraphicFramePr>
        <p:xfrm>
          <a:off x="2773363" y="2052638"/>
          <a:ext cx="7796212" cy="3997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68404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C2897-CA67-0572-6A6D-F344057BA865}"/>
              </a:ext>
            </a:extLst>
          </p:cNvPr>
          <p:cNvSpPr>
            <a:spLocks noGrp="1"/>
          </p:cNvSpPr>
          <p:nvPr>
            <p:ph type="title"/>
          </p:nvPr>
        </p:nvSpPr>
        <p:spPr/>
        <p:txBody>
          <a:bodyPr/>
          <a:lstStyle/>
          <a:p>
            <a:r>
              <a:rPr lang="en-US" dirty="0"/>
              <a:t>Download</a:t>
            </a:r>
          </a:p>
        </p:txBody>
      </p:sp>
      <p:sp>
        <p:nvSpPr>
          <p:cNvPr id="3" name="Content Placeholder 2">
            <a:extLst>
              <a:ext uri="{FF2B5EF4-FFF2-40B4-BE49-F238E27FC236}">
                <a16:creationId xmlns:a16="http://schemas.microsoft.com/office/drawing/2014/main" id="{98FC6FDA-C4F5-6A08-07CF-BE346991D57C}"/>
              </a:ext>
            </a:extLst>
          </p:cNvPr>
          <p:cNvSpPr>
            <a:spLocks noGrp="1"/>
          </p:cNvSpPr>
          <p:nvPr>
            <p:ph idx="1"/>
          </p:nvPr>
        </p:nvSpPr>
        <p:spPr>
          <a:xfrm>
            <a:off x="2773599" y="-113629"/>
            <a:ext cx="7796540" cy="3997828"/>
          </a:xfrm>
        </p:spPr>
        <p:txBody>
          <a:bodyPr/>
          <a:lstStyle/>
          <a:p>
            <a:r>
              <a:rPr lang="en-US" dirty="0">
                <a:hlinkClick r:id="rId2"/>
              </a:rPr>
              <a:t>ICM7217IPI+</a:t>
            </a:r>
            <a:endParaRPr lang="en-US" dirty="0"/>
          </a:p>
          <a:p>
            <a:endParaRPr lang="en-US" dirty="0"/>
          </a:p>
        </p:txBody>
      </p:sp>
      <p:pic>
        <p:nvPicPr>
          <p:cNvPr id="5" name="Picture 4">
            <a:extLst>
              <a:ext uri="{FF2B5EF4-FFF2-40B4-BE49-F238E27FC236}">
                <a16:creationId xmlns:a16="http://schemas.microsoft.com/office/drawing/2014/main" id="{A02DC7BF-32C3-B47B-4950-0680E4713C0F}"/>
              </a:ext>
            </a:extLst>
          </p:cNvPr>
          <p:cNvPicPr>
            <a:picLocks noChangeAspect="1"/>
          </p:cNvPicPr>
          <p:nvPr/>
        </p:nvPicPr>
        <p:blipFill>
          <a:blip r:embed="rId3"/>
          <a:stretch>
            <a:fillRect/>
          </a:stretch>
        </p:blipFill>
        <p:spPr>
          <a:xfrm>
            <a:off x="2209800" y="2331708"/>
            <a:ext cx="7772400" cy="4026146"/>
          </a:xfrm>
          <a:prstGeom prst="rect">
            <a:avLst/>
          </a:prstGeom>
        </p:spPr>
      </p:pic>
      <p:sp>
        <p:nvSpPr>
          <p:cNvPr id="6" name="Frame 5">
            <a:extLst>
              <a:ext uri="{FF2B5EF4-FFF2-40B4-BE49-F238E27FC236}">
                <a16:creationId xmlns:a16="http://schemas.microsoft.com/office/drawing/2014/main" id="{2889A4DF-AAC5-2AC2-6835-ADF54E8F00A5}"/>
              </a:ext>
            </a:extLst>
          </p:cNvPr>
          <p:cNvSpPr/>
          <p:nvPr/>
        </p:nvSpPr>
        <p:spPr>
          <a:xfrm>
            <a:off x="4310743" y="4870580"/>
            <a:ext cx="1502228" cy="233265"/>
          </a:xfrm>
          <a:prstGeom prst="fram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Right Arrow 6">
            <a:extLst>
              <a:ext uri="{FF2B5EF4-FFF2-40B4-BE49-F238E27FC236}">
                <a16:creationId xmlns:a16="http://schemas.microsoft.com/office/drawing/2014/main" id="{F0E555E7-2ABD-D99B-E713-ADC136CE436D}"/>
              </a:ext>
            </a:extLst>
          </p:cNvPr>
          <p:cNvSpPr/>
          <p:nvPr/>
        </p:nvSpPr>
        <p:spPr>
          <a:xfrm>
            <a:off x="3270269" y="4805884"/>
            <a:ext cx="905070" cy="377890"/>
          </a:xfrm>
          <a:prstGeom prst="rightArrow">
            <a:avLst>
              <a:gd name="adj1" fmla="val 35185"/>
              <a:gd name="adj2" fmla="val 50000"/>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2547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E2199-0DE4-810D-D8F5-20CC6795D106}"/>
              </a:ext>
            </a:extLst>
          </p:cNvPr>
          <p:cNvSpPr>
            <a:spLocks noGrp="1"/>
          </p:cNvSpPr>
          <p:nvPr>
            <p:ph type="title"/>
          </p:nvPr>
        </p:nvSpPr>
        <p:spPr/>
        <p:txBody>
          <a:bodyPr/>
          <a:lstStyle/>
          <a:p>
            <a:r>
              <a:rPr lang="en-US" dirty="0"/>
              <a:t>Download cont.</a:t>
            </a:r>
          </a:p>
        </p:txBody>
      </p:sp>
      <p:sp>
        <p:nvSpPr>
          <p:cNvPr id="3" name="Content Placeholder 2">
            <a:extLst>
              <a:ext uri="{FF2B5EF4-FFF2-40B4-BE49-F238E27FC236}">
                <a16:creationId xmlns:a16="http://schemas.microsoft.com/office/drawing/2014/main" id="{25F901A5-57CA-AFAF-44D8-F9EA90DF0DD8}"/>
              </a:ext>
            </a:extLst>
          </p:cNvPr>
          <p:cNvSpPr>
            <a:spLocks noGrp="1"/>
          </p:cNvSpPr>
          <p:nvPr>
            <p:ph idx="1"/>
          </p:nvPr>
        </p:nvSpPr>
        <p:spPr/>
        <p:txBody>
          <a:bodyPr/>
          <a:lstStyle/>
          <a:p>
            <a:r>
              <a:rPr lang="en-US" dirty="0"/>
              <a:t>Find this button</a:t>
            </a:r>
          </a:p>
          <a:p>
            <a:endParaRPr lang="en-US" dirty="0"/>
          </a:p>
          <a:p>
            <a:endParaRPr lang="en-US" dirty="0"/>
          </a:p>
          <a:p>
            <a:r>
              <a:rPr lang="en-US" dirty="0"/>
              <a:t>Then select </a:t>
            </a:r>
            <a:r>
              <a:rPr lang="en-US" dirty="0" err="1"/>
              <a:t>KiCAD</a:t>
            </a:r>
            <a:r>
              <a:rPr lang="en-US" dirty="0"/>
              <a:t> (v6 and later), and</a:t>
            </a:r>
            <a:br>
              <a:rPr lang="en-US" dirty="0"/>
            </a:br>
            <a:r>
              <a:rPr lang="en-US" dirty="0"/>
              <a:t>select STEP at the top</a:t>
            </a:r>
          </a:p>
          <a:p>
            <a:pPr marL="6160" indent="0">
              <a:buNone/>
            </a:pPr>
            <a:endParaRPr lang="en-US" dirty="0"/>
          </a:p>
          <a:p>
            <a:r>
              <a:rPr lang="en-US" dirty="0"/>
              <a:t>Press download</a:t>
            </a:r>
          </a:p>
          <a:p>
            <a:endParaRPr lang="en-US" dirty="0"/>
          </a:p>
        </p:txBody>
      </p:sp>
      <p:pic>
        <p:nvPicPr>
          <p:cNvPr id="5" name="Picture 4">
            <a:extLst>
              <a:ext uri="{FF2B5EF4-FFF2-40B4-BE49-F238E27FC236}">
                <a16:creationId xmlns:a16="http://schemas.microsoft.com/office/drawing/2014/main" id="{50E354B7-B91E-1E8B-1CCA-D7C036A1D175}"/>
              </a:ext>
            </a:extLst>
          </p:cNvPr>
          <p:cNvPicPr>
            <a:picLocks noChangeAspect="1"/>
          </p:cNvPicPr>
          <p:nvPr/>
        </p:nvPicPr>
        <p:blipFill>
          <a:blip r:embed="rId2"/>
          <a:stretch>
            <a:fillRect/>
          </a:stretch>
        </p:blipFill>
        <p:spPr>
          <a:xfrm>
            <a:off x="3004351" y="2608424"/>
            <a:ext cx="3276600" cy="736600"/>
          </a:xfrm>
          <a:prstGeom prst="rect">
            <a:avLst/>
          </a:prstGeom>
        </p:spPr>
      </p:pic>
      <p:pic>
        <p:nvPicPr>
          <p:cNvPr id="7" name="Picture 6">
            <a:extLst>
              <a:ext uri="{FF2B5EF4-FFF2-40B4-BE49-F238E27FC236}">
                <a16:creationId xmlns:a16="http://schemas.microsoft.com/office/drawing/2014/main" id="{13DEAFCB-5072-3A89-1CA9-53A6B354A652}"/>
              </a:ext>
            </a:extLst>
          </p:cNvPr>
          <p:cNvPicPr>
            <a:picLocks noChangeAspect="1"/>
          </p:cNvPicPr>
          <p:nvPr/>
        </p:nvPicPr>
        <p:blipFill>
          <a:blip r:embed="rId3"/>
          <a:stretch>
            <a:fillRect/>
          </a:stretch>
        </p:blipFill>
        <p:spPr>
          <a:xfrm>
            <a:off x="7954175" y="1812726"/>
            <a:ext cx="2928452" cy="3788229"/>
          </a:xfrm>
          <a:prstGeom prst="rect">
            <a:avLst/>
          </a:prstGeom>
        </p:spPr>
      </p:pic>
    </p:spTree>
    <p:extLst>
      <p:ext uri="{BB962C8B-B14F-4D97-AF65-F5344CB8AC3E}">
        <p14:creationId xmlns:p14="http://schemas.microsoft.com/office/powerpoint/2010/main" val="16885600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68E18-91C0-FBB4-EE49-9BE35EB59491}"/>
              </a:ext>
            </a:extLst>
          </p:cNvPr>
          <p:cNvSpPr>
            <a:spLocks noGrp="1"/>
          </p:cNvSpPr>
          <p:nvPr>
            <p:ph type="title"/>
          </p:nvPr>
        </p:nvSpPr>
        <p:spPr/>
        <p:txBody>
          <a:bodyPr/>
          <a:lstStyle/>
          <a:p>
            <a:r>
              <a:rPr lang="en-US" dirty="0"/>
              <a:t>Importing to </a:t>
            </a:r>
            <a:r>
              <a:rPr lang="en-US" dirty="0" err="1"/>
              <a:t>KiCAD</a:t>
            </a:r>
            <a:endParaRPr lang="en-US" dirty="0"/>
          </a:p>
        </p:txBody>
      </p:sp>
      <p:sp>
        <p:nvSpPr>
          <p:cNvPr id="3" name="Content Placeholder 2">
            <a:extLst>
              <a:ext uri="{FF2B5EF4-FFF2-40B4-BE49-F238E27FC236}">
                <a16:creationId xmlns:a16="http://schemas.microsoft.com/office/drawing/2014/main" id="{568CB2D6-E19E-301F-97AE-6CD9BE4D38A1}"/>
              </a:ext>
            </a:extLst>
          </p:cNvPr>
          <p:cNvSpPr>
            <a:spLocks noGrp="1"/>
          </p:cNvSpPr>
          <p:nvPr>
            <p:ph idx="1"/>
          </p:nvPr>
        </p:nvSpPr>
        <p:spPr/>
        <p:txBody>
          <a:bodyPr/>
          <a:lstStyle/>
          <a:p>
            <a:r>
              <a:rPr lang="en-US" dirty="0"/>
              <a:t>Select the	 	icon </a:t>
            </a:r>
          </a:p>
          <a:p>
            <a:r>
              <a:rPr lang="en-US" dirty="0"/>
              <a:t>File &gt; Add library &gt; Project and navigate to your downloaded file</a:t>
            </a:r>
          </a:p>
          <a:p>
            <a:r>
              <a:rPr lang="en-US" dirty="0"/>
              <a:t>Tip: To stay organized, move the library files to your project’s folder</a:t>
            </a:r>
          </a:p>
        </p:txBody>
      </p:sp>
      <p:pic>
        <p:nvPicPr>
          <p:cNvPr id="7" name="Picture 6">
            <a:extLst>
              <a:ext uri="{FF2B5EF4-FFF2-40B4-BE49-F238E27FC236}">
                <a16:creationId xmlns:a16="http://schemas.microsoft.com/office/drawing/2014/main" id="{F574B160-127E-3A7B-8F98-A6FF4F1F0FB0}"/>
              </a:ext>
            </a:extLst>
          </p:cNvPr>
          <p:cNvPicPr>
            <a:picLocks noChangeAspect="1"/>
          </p:cNvPicPr>
          <p:nvPr/>
        </p:nvPicPr>
        <p:blipFill>
          <a:blip r:embed="rId2"/>
          <a:stretch>
            <a:fillRect/>
          </a:stretch>
        </p:blipFill>
        <p:spPr>
          <a:xfrm>
            <a:off x="5003411" y="2831322"/>
            <a:ext cx="393700" cy="355600"/>
          </a:xfrm>
          <a:prstGeom prst="rect">
            <a:avLst/>
          </a:prstGeom>
        </p:spPr>
      </p:pic>
    </p:spTree>
    <p:extLst>
      <p:ext uri="{BB962C8B-B14F-4D97-AF65-F5344CB8AC3E}">
        <p14:creationId xmlns:p14="http://schemas.microsoft.com/office/powerpoint/2010/main" val="1780395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87C44-DE6D-C850-FD3D-AE55C80FE202}"/>
              </a:ext>
            </a:extLst>
          </p:cNvPr>
          <p:cNvSpPr>
            <a:spLocks noGrp="1"/>
          </p:cNvSpPr>
          <p:nvPr>
            <p:ph type="title"/>
          </p:nvPr>
        </p:nvSpPr>
        <p:spPr/>
        <p:txBody>
          <a:bodyPr/>
          <a:lstStyle/>
          <a:p>
            <a:r>
              <a:rPr lang="en-US" dirty="0"/>
              <a:t>Build the Schematic</a:t>
            </a:r>
          </a:p>
        </p:txBody>
      </p:sp>
      <p:pic>
        <p:nvPicPr>
          <p:cNvPr id="4" name="Content Placeholder 5">
            <a:extLst>
              <a:ext uri="{FF2B5EF4-FFF2-40B4-BE49-F238E27FC236}">
                <a16:creationId xmlns:a16="http://schemas.microsoft.com/office/drawing/2014/main" id="{FD0D92FD-41E2-78BB-D74B-7645874BC37B}"/>
              </a:ext>
            </a:extLst>
          </p:cNvPr>
          <p:cNvPicPr>
            <a:picLocks noGrp="1" noChangeAspect="1"/>
          </p:cNvPicPr>
          <p:nvPr>
            <p:ph idx="1"/>
          </p:nvPr>
        </p:nvPicPr>
        <p:blipFill>
          <a:blip r:embed="rId2"/>
          <a:stretch>
            <a:fillRect/>
          </a:stretch>
        </p:blipFill>
        <p:spPr>
          <a:xfrm>
            <a:off x="1843474" y="1492897"/>
            <a:ext cx="8505052" cy="4749282"/>
          </a:xfrm>
          <a:prstGeom prst="rect">
            <a:avLst/>
          </a:prstGeom>
        </p:spPr>
      </p:pic>
    </p:spTree>
    <p:extLst>
      <p:ext uri="{BB962C8B-B14F-4D97-AF65-F5344CB8AC3E}">
        <p14:creationId xmlns:p14="http://schemas.microsoft.com/office/powerpoint/2010/main" val="18854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B8803-1A9E-269B-58CB-9B9A12150279}"/>
              </a:ext>
            </a:extLst>
          </p:cNvPr>
          <p:cNvSpPr>
            <a:spLocks noGrp="1"/>
          </p:cNvSpPr>
          <p:nvPr>
            <p:ph type="title"/>
          </p:nvPr>
        </p:nvSpPr>
        <p:spPr/>
        <p:txBody>
          <a:bodyPr/>
          <a:lstStyle/>
          <a:p>
            <a:r>
              <a:rPr lang="en-US" dirty="0"/>
              <a:t>Footprints</a:t>
            </a:r>
          </a:p>
        </p:txBody>
      </p:sp>
      <p:sp>
        <p:nvSpPr>
          <p:cNvPr id="3" name="Content Placeholder 2">
            <a:extLst>
              <a:ext uri="{FF2B5EF4-FFF2-40B4-BE49-F238E27FC236}">
                <a16:creationId xmlns:a16="http://schemas.microsoft.com/office/drawing/2014/main" id="{AD7C721E-59C1-0BC1-9C52-14D6F397120D}"/>
              </a:ext>
            </a:extLst>
          </p:cNvPr>
          <p:cNvSpPr>
            <a:spLocks noGrp="1"/>
          </p:cNvSpPr>
          <p:nvPr>
            <p:ph idx="1"/>
          </p:nvPr>
        </p:nvSpPr>
        <p:spPr/>
        <p:txBody>
          <a:bodyPr/>
          <a:lstStyle/>
          <a:p>
            <a:pPr lvl="2"/>
            <a:r>
              <a:rPr lang="en-US" dirty="0"/>
              <a:t>Use the 	 button to open the footprint assigner</a:t>
            </a:r>
          </a:p>
          <a:p>
            <a:pPr lvl="2"/>
            <a:r>
              <a:rPr lang="en-US" dirty="0"/>
              <a:t>Footprints should follow as listed below</a:t>
            </a:r>
          </a:p>
          <a:p>
            <a:pPr lvl="2"/>
            <a:endParaRPr lang="en-US" dirty="0"/>
          </a:p>
          <a:p>
            <a:pPr lvl="2"/>
            <a:endParaRPr lang="en-US" dirty="0"/>
          </a:p>
          <a:p>
            <a:pPr lvl="2"/>
            <a:endParaRPr lang="en-US" dirty="0"/>
          </a:p>
          <a:p>
            <a:pPr lvl="2"/>
            <a:endParaRPr lang="en-US" dirty="0"/>
          </a:p>
        </p:txBody>
      </p:sp>
      <p:pic>
        <p:nvPicPr>
          <p:cNvPr id="4" name="Picture 3">
            <a:extLst>
              <a:ext uri="{FF2B5EF4-FFF2-40B4-BE49-F238E27FC236}">
                <a16:creationId xmlns:a16="http://schemas.microsoft.com/office/drawing/2014/main" id="{E09BA420-CA37-B2F8-7F10-647A0BFB422E}"/>
              </a:ext>
            </a:extLst>
          </p:cNvPr>
          <p:cNvPicPr>
            <a:picLocks noChangeAspect="1"/>
          </p:cNvPicPr>
          <p:nvPr/>
        </p:nvPicPr>
        <p:blipFill>
          <a:blip r:embed="rId2"/>
          <a:stretch>
            <a:fillRect/>
          </a:stretch>
        </p:blipFill>
        <p:spPr>
          <a:xfrm>
            <a:off x="5047472" y="2840177"/>
            <a:ext cx="342900" cy="317500"/>
          </a:xfrm>
          <a:prstGeom prst="rect">
            <a:avLst/>
          </a:prstGeom>
        </p:spPr>
      </p:pic>
      <p:pic>
        <p:nvPicPr>
          <p:cNvPr id="6" name="Picture 5">
            <a:extLst>
              <a:ext uri="{FF2B5EF4-FFF2-40B4-BE49-F238E27FC236}">
                <a16:creationId xmlns:a16="http://schemas.microsoft.com/office/drawing/2014/main" id="{B58F44AD-9DCE-491D-5950-37428C69648D}"/>
              </a:ext>
            </a:extLst>
          </p:cNvPr>
          <p:cNvPicPr>
            <a:picLocks noChangeAspect="1"/>
          </p:cNvPicPr>
          <p:nvPr/>
        </p:nvPicPr>
        <p:blipFill>
          <a:blip r:embed="rId3"/>
          <a:stretch>
            <a:fillRect/>
          </a:stretch>
        </p:blipFill>
        <p:spPr>
          <a:xfrm>
            <a:off x="2785669" y="3859073"/>
            <a:ext cx="7772400" cy="1919547"/>
          </a:xfrm>
          <a:prstGeom prst="rect">
            <a:avLst/>
          </a:prstGeom>
        </p:spPr>
      </p:pic>
    </p:spTree>
    <p:extLst>
      <p:ext uri="{BB962C8B-B14F-4D97-AF65-F5344CB8AC3E}">
        <p14:creationId xmlns:p14="http://schemas.microsoft.com/office/powerpoint/2010/main" val="1082993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C0851-A37A-AFAB-20DF-2A69D6DA6320}"/>
              </a:ext>
            </a:extLst>
          </p:cNvPr>
          <p:cNvSpPr>
            <a:spLocks noGrp="1"/>
          </p:cNvSpPr>
          <p:nvPr>
            <p:ph type="title"/>
          </p:nvPr>
        </p:nvSpPr>
        <p:spPr/>
        <p:txBody>
          <a:bodyPr/>
          <a:lstStyle/>
          <a:p>
            <a:r>
              <a:rPr lang="en-US" dirty="0"/>
              <a:t>PCB Time</a:t>
            </a:r>
          </a:p>
        </p:txBody>
      </p:sp>
      <p:sp>
        <p:nvSpPr>
          <p:cNvPr id="3" name="Content Placeholder 2">
            <a:extLst>
              <a:ext uri="{FF2B5EF4-FFF2-40B4-BE49-F238E27FC236}">
                <a16:creationId xmlns:a16="http://schemas.microsoft.com/office/drawing/2014/main" id="{E33B5201-7780-36D9-987B-195C0236B4D8}"/>
              </a:ext>
            </a:extLst>
          </p:cNvPr>
          <p:cNvSpPr>
            <a:spLocks noGrp="1"/>
          </p:cNvSpPr>
          <p:nvPr>
            <p:ph idx="1"/>
          </p:nvPr>
        </p:nvSpPr>
        <p:spPr/>
        <p:txBody>
          <a:bodyPr/>
          <a:lstStyle/>
          <a:p>
            <a:r>
              <a:rPr lang="en-US" dirty="0"/>
              <a:t>Use the 	 button to open your PCB file (might take a second)</a:t>
            </a:r>
          </a:p>
          <a:p>
            <a:r>
              <a:rPr lang="en-US" dirty="0"/>
              <a:t>Press the 	   button and click “Update PCB” to add the footprints from the schematic</a:t>
            </a:r>
          </a:p>
        </p:txBody>
      </p:sp>
      <p:pic>
        <p:nvPicPr>
          <p:cNvPr id="4" name="Picture 3">
            <a:extLst>
              <a:ext uri="{FF2B5EF4-FFF2-40B4-BE49-F238E27FC236}">
                <a16:creationId xmlns:a16="http://schemas.microsoft.com/office/drawing/2014/main" id="{EF4080A9-B9C2-B394-6FBD-EEAE0700B12C}"/>
              </a:ext>
            </a:extLst>
          </p:cNvPr>
          <p:cNvPicPr>
            <a:picLocks noChangeAspect="1"/>
          </p:cNvPicPr>
          <p:nvPr/>
        </p:nvPicPr>
        <p:blipFill>
          <a:blip r:embed="rId2"/>
          <a:stretch>
            <a:fillRect/>
          </a:stretch>
        </p:blipFill>
        <p:spPr>
          <a:xfrm>
            <a:off x="4232340" y="3429000"/>
            <a:ext cx="368300" cy="304800"/>
          </a:xfrm>
          <a:prstGeom prst="rect">
            <a:avLst/>
          </a:prstGeom>
        </p:spPr>
      </p:pic>
      <p:pic>
        <p:nvPicPr>
          <p:cNvPr id="6" name="Picture 5">
            <a:extLst>
              <a:ext uri="{FF2B5EF4-FFF2-40B4-BE49-F238E27FC236}">
                <a16:creationId xmlns:a16="http://schemas.microsoft.com/office/drawing/2014/main" id="{0A010E0B-3195-12D7-56EA-3A9A2C3903DD}"/>
              </a:ext>
            </a:extLst>
          </p:cNvPr>
          <p:cNvPicPr>
            <a:picLocks noChangeAspect="1"/>
          </p:cNvPicPr>
          <p:nvPr/>
        </p:nvPicPr>
        <p:blipFill>
          <a:blip r:embed="rId3"/>
          <a:stretch>
            <a:fillRect/>
          </a:stretch>
        </p:blipFill>
        <p:spPr>
          <a:xfrm>
            <a:off x="4397440" y="3966936"/>
            <a:ext cx="406400" cy="317500"/>
          </a:xfrm>
          <a:prstGeom prst="rect">
            <a:avLst/>
          </a:prstGeom>
        </p:spPr>
      </p:pic>
    </p:spTree>
    <p:extLst>
      <p:ext uri="{BB962C8B-B14F-4D97-AF65-F5344CB8AC3E}">
        <p14:creationId xmlns:p14="http://schemas.microsoft.com/office/powerpoint/2010/main" val="31331101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61FCE-88DB-FDDF-D176-00CF6E68EC58}"/>
              </a:ext>
            </a:extLst>
          </p:cNvPr>
          <p:cNvSpPr>
            <a:spLocks noGrp="1"/>
          </p:cNvSpPr>
          <p:nvPr>
            <p:ph type="title"/>
          </p:nvPr>
        </p:nvSpPr>
        <p:spPr/>
        <p:txBody>
          <a:bodyPr/>
          <a:lstStyle/>
          <a:p>
            <a:r>
              <a:rPr lang="en-US"/>
              <a:t>PCB Layout</a:t>
            </a:r>
          </a:p>
        </p:txBody>
      </p:sp>
      <p:pic>
        <p:nvPicPr>
          <p:cNvPr id="4" name="Content Placeholder 3">
            <a:extLst>
              <a:ext uri="{FF2B5EF4-FFF2-40B4-BE49-F238E27FC236}">
                <a16:creationId xmlns:a16="http://schemas.microsoft.com/office/drawing/2014/main" id="{7D927E1F-840C-B308-EE2D-390C2E91A94F}"/>
              </a:ext>
            </a:extLst>
          </p:cNvPr>
          <p:cNvPicPr>
            <a:picLocks noGrp="1" noChangeAspect="1"/>
          </p:cNvPicPr>
          <p:nvPr>
            <p:ph idx="1"/>
          </p:nvPr>
        </p:nvPicPr>
        <p:blipFill>
          <a:blip r:embed="rId2"/>
          <a:stretch>
            <a:fillRect/>
          </a:stretch>
        </p:blipFill>
        <p:spPr>
          <a:xfrm>
            <a:off x="4617030" y="2052638"/>
            <a:ext cx="4108878" cy="3997325"/>
          </a:xfrm>
          <a:prstGeom prst="rect">
            <a:avLst/>
          </a:prstGeom>
        </p:spPr>
      </p:pic>
    </p:spTree>
    <p:extLst>
      <p:ext uri="{BB962C8B-B14F-4D97-AF65-F5344CB8AC3E}">
        <p14:creationId xmlns:p14="http://schemas.microsoft.com/office/powerpoint/2010/main" val="14381433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Custom 2">
      <a:dk1>
        <a:srgbClr val="000000"/>
      </a:dk1>
      <a:lt1>
        <a:srgbClr val="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5FF5F4"/>
      </a:hlink>
      <a:folHlink>
        <a:srgbClr val="9F6715"/>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178B2DAB-5DDE-4060-A857-D2E1CDA925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cf48d45-3ddb-4389-a9c1-c115526eb52e}" enabled="0" method="" siteId="{7cf48d45-3ddb-4389-a9c1-c115526eb52e}" removed="1"/>
</clbl:labelList>
</file>

<file path=docProps/app.xml><?xml version="1.0" encoding="utf-8"?>
<Properties xmlns="http://schemas.openxmlformats.org/officeDocument/2006/extended-properties" xmlns:vt="http://schemas.openxmlformats.org/officeDocument/2006/docPropsVTypes">
  <Template>Madison</Template>
  <TotalTime>162</TotalTime>
  <Words>1011</Words>
  <Application>Microsoft Macintosh PowerPoint</Application>
  <PresentationFormat>Widescreen</PresentationFormat>
  <Paragraphs>86</Paragraphs>
  <Slides>14</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Arial</vt:lpstr>
      <vt:lpstr>MS Shell Dlg 2</vt:lpstr>
      <vt:lpstr>Söhne</vt:lpstr>
      <vt:lpstr>Wingdings</vt:lpstr>
      <vt:lpstr>Wingdings 3</vt:lpstr>
      <vt:lpstr>Madison</vt:lpstr>
      <vt:lpstr>IEEE KiCAD Workshop </vt:lpstr>
      <vt:lpstr>What is KiCAD?</vt:lpstr>
      <vt:lpstr>Getting Started</vt:lpstr>
      <vt:lpstr>General Workflow</vt:lpstr>
      <vt:lpstr>KiCad Main Interface Overview</vt:lpstr>
      <vt:lpstr>Digital Counter Circuit</vt:lpstr>
      <vt:lpstr>Importing Components in KiCAD </vt:lpstr>
      <vt:lpstr>Download</vt:lpstr>
      <vt:lpstr>Download cont.</vt:lpstr>
      <vt:lpstr>Importing to KiCAD</vt:lpstr>
      <vt:lpstr>Build the Schematic</vt:lpstr>
      <vt:lpstr>Footprints</vt:lpstr>
      <vt:lpstr>PCB Time</vt:lpstr>
      <vt:lpstr>PCB Layout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IEEE KiCAD Workshop </dc:title>
  <dc:creator>Nick Zentmayer</dc:creator>
  <cp:lastModifiedBy>Zentmayer, Dominick Francis</cp:lastModifiedBy>
  <cp:revision>3</cp:revision>
  <dcterms:created xsi:type="dcterms:W3CDTF">2025-03-15T17:35:15Z</dcterms:created>
  <dcterms:modified xsi:type="dcterms:W3CDTF">2025-11-16T03:19:08Z</dcterms:modified>
</cp:coreProperties>
</file>